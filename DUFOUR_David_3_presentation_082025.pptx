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95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81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6" r:id="rId19"/>
    <p:sldId id="282" r:id="rId20"/>
    <p:sldId id="283" r:id="rId21"/>
    <p:sldId id="284" r:id="rId22"/>
    <p:sldId id="285" r:id="rId23"/>
    <p:sldId id="277" r:id="rId24"/>
    <p:sldId id="278" r:id="rId25"/>
    <p:sldId id="279" r:id="rId26"/>
    <p:sldId id="280" r:id="rId2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Tw Cen MT" panose="020B0602020104020603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a+gmGsMXmMMB+ElF5Uh3ccKUG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B981B-6AA7-4F8F-804A-BBC0631E8345}" v="30" dt="2025-09-03T19:33:17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150" d="100"/>
          <a:sy n="150" d="100"/>
        </p:scale>
        <p:origin x="474" y="35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DUFOUR" userId="1b510d786c1f9072" providerId="LiveId" clId="{51FB981B-6AA7-4F8F-804A-BBC0631E8345}"/>
    <pc:docChg chg="undo redo custSel addSld delSld modSld">
      <pc:chgData name="David DUFOUR" userId="1b510d786c1f9072" providerId="LiveId" clId="{51FB981B-6AA7-4F8F-804A-BBC0631E8345}" dt="2025-09-04T10:46:04.616" v="1077" actId="207"/>
      <pc:docMkLst>
        <pc:docMk/>
      </pc:docMkLst>
      <pc:sldChg chg="modSp mod">
        <pc:chgData name="David DUFOUR" userId="1b510d786c1f9072" providerId="LiveId" clId="{51FB981B-6AA7-4F8F-804A-BBC0631E8345}" dt="2025-09-04T10:42:49.571" v="1046" actId="207"/>
        <pc:sldMkLst>
          <pc:docMk/>
          <pc:sldMk cId="0" sldId="256"/>
        </pc:sldMkLst>
        <pc:spChg chg="mod">
          <ac:chgData name="David DUFOUR" userId="1b510d786c1f9072" providerId="LiveId" clId="{51FB981B-6AA7-4F8F-804A-BBC0631E8345}" dt="2025-09-04T10:42:34.751" v="1042" actId="20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2:41.735" v="1043" actId="20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2:49.571" v="1046" actId="207"/>
          <ac:spMkLst>
            <pc:docMk/>
            <pc:sldMk cId="0" sldId="256"/>
            <ac:spMk id="58" creationId="{00000000-0000-0000-0000-000000000000}"/>
          </ac:spMkLst>
        </pc:spChg>
      </pc:sldChg>
      <pc:sldChg chg="delSp modSp mod">
        <pc:chgData name="David DUFOUR" userId="1b510d786c1f9072" providerId="LiveId" clId="{51FB981B-6AA7-4F8F-804A-BBC0631E8345}" dt="2025-09-04T10:42:25.537" v="1041" actId="207"/>
        <pc:sldMkLst>
          <pc:docMk/>
          <pc:sldMk cId="0" sldId="257"/>
        </pc:sldMkLst>
        <pc:spChg chg="mod">
          <ac:chgData name="David DUFOUR" userId="1b510d786c1f9072" providerId="LiveId" clId="{51FB981B-6AA7-4F8F-804A-BBC0631E8345}" dt="2025-09-04T10:42:25.537" v="1041" actId="207"/>
          <ac:spMkLst>
            <pc:docMk/>
            <pc:sldMk cId="0" sldId="257"/>
            <ac:spMk id="64" creationId="{00000000-0000-0000-0000-000000000000}"/>
          </ac:spMkLst>
        </pc:spChg>
      </pc:sldChg>
      <pc:sldChg chg="modSp mod">
        <pc:chgData name="David DUFOUR" userId="1b510d786c1f9072" providerId="LiveId" clId="{51FB981B-6AA7-4F8F-804A-BBC0631E8345}" dt="2025-09-04T10:43:01.598" v="1048" actId="207"/>
        <pc:sldMkLst>
          <pc:docMk/>
          <pc:sldMk cId="0" sldId="258"/>
        </pc:sldMkLst>
        <pc:spChg chg="mod">
          <ac:chgData name="David DUFOUR" userId="1b510d786c1f9072" providerId="LiveId" clId="{51FB981B-6AA7-4F8F-804A-BBC0631E8345}" dt="2025-09-04T10:43:01.598" v="1048" actId="207"/>
          <ac:spMkLst>
            <pc:docMk/>
            <pc:sldMk cId="0" sldId="258"/>
            <ac:spMk id="73" creationId="{00000000-0000-0000-0000-000000000000}"/>
          </ac:spMkLst>
        </pc:spChg>
      </pc:sldChg>
      <pc:sldChg chg="modSp mod">
        <pc:chgData name="David DUFOUR" userId="1b510d786c1f9072" providerId="LiveId" clId="{51FB981B-6AA7-4F8F-804A-BBC0631E8345}" dt="2025-09-04T10:44:02.856" v="1058" actId="207"/>
        <pc:sldMkLst>
          <pc:docMk/>
          <pc:sldMk cId="0" sldId="260"/>
        </pc:sldMkLst>
        <pc:spChg chg="mod">
          <ac:chgData name="David DUFOUR" userId="1b510d786c1f9072" providerId="LiveId" clId="{51FB981B-6AA7-4F8F-804A-BBC0631E8345}" dt="2025-09-04T10:43:41.211" v="1054" actId="207"/>
          <ac:spMkLst>
            <pc:docMk/>
            <pc:sldMk cId="0" sldId="260"/>
            <ac:spMk id="95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49.024" v="1055" actId="207"/>
          <ac:spMkLst>
            <pc:docMk/>
            <pc:sldMk cId="0" sldId="260"/>
            <ac:spMk id="96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53.857" v="1056" actId="207"/>
          <ac:spMkLst>
            <pc:docMk/>
            <pc:sldMk cId="0" sldId="260"/>
            <ac:spMk id="97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58.781" v="1057" actId="207"/>
          <ac:spMkLst>
            <pc:docMk/>
            <pc:sldMk cId="0" sldId="260"/>
            <ac:spMk id="98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4:02.856" v="1058" actId="207"/>
          <ac:spMkLst>
            <pc:docMk/>
            <pc:sldMk cId="0" sldId="260"/>
            <ac:spMk id="99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13.632" v="1049" actId="207"/>
          <ac:spMkLst>
            <pc:docMk/>
            <pc:sldMk cId="0" sldId="260"/>
            <ac:spMk id="109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17.975" v="1050" actId="20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22.124" v="1051" actId="207"/>
          <ac:spMkLst>
            <pc:docMk/>
            <pc:sldMk cId="0" sldId="260"/>
            <ac:spMk id="111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26.096" v="1052" actId="207"/>
          <ac:spMkLst>
            <pc:docMk/>
            <pc:sldMk cId="0" sldId="260"/>
            <ac:spMk id="112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3:30.222" v="1053" actId="207"/>
          <ac:spMkLst>
            <pc:docMk/>
            <pc:sldMk cId="0" sldId="260"/>
            <ac:spMk id="113" creationId="{00000000-0000-0000-0000-000000000000}"/>
          </ac:spMkLst>
        </pc:spChg>
      </pc:sldChg>
      <pc:sldChg chg="modSp mod">
        <pc:chgData name="David DUFOUR" userId="1b510d786c1f9072" providerId="LiveId" clId="{51FB981B-6AA7-4F8F-804A-BBC0631E8345}" dt="2025-09-04T10:44:13.171" v="1059" actId="207"/>
        <pc:sldMkLst>
          <pc:docMk/>
          <pc:sldMk cId="0" sldId="261"/>
        </pc:sldMkLst>
        <pc:spChg chg="mod">
          <ac:chgData name="David DUFOUR" userId="1b510d786c1f9072" providerId="LiveId" clId="{51FB981B-6AA7-4F8F-804A-BBC0631E8345}" dt="2025-09-04T10:44:13.171" v="1059" actId="207"/>
          <ac:spMkLst>
            <pc:docMk/>
            <pc:sldMk cId="0" sldId="261"/>
            <ac:spMk id="122" creationId="{00000000-0000-0000-0000-000000000000}"/>
          </ac:spMkLst>
        </pc:spChg>
      </pc:sldChg>
      <pc:sldChg chg="modSp mod">
        <pc:chgData name="David DUFOUR" userId="1b510d786c1f9072" providerId="LiveId" clId="{51FB981B-6AA7-4F8F-804A-BBC0631E8345}" dt="2025-09-04T10:44:26.333" v="1061" actId="207"/>
        <pc:sldMkLst>
          <pc:docMk/>
          <pc:sldMk cId="0" sldId="262"/>
        </pc:sldMkLst>
        <pc:spChg chg="mod">
          <ac:chgData name="David DUFOUR" userId="1b510d786c1f9072" providerId="LiveId" clId="{51FB981B-6AA7-4F8F-804A-BBC0631E8345}" dt="2025-09-04T10:44:21.869" v="1060" actId="207"/>
          <ac:spMkLst>
            <pc:docMk/>
            <pc:sldMk cId="0" sldId="262"/>
            <ac:spMk id="131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4:26.333" v="1061" actId="207"/>
          <ac:spMkLst>
            <pc:docMk/>
            <pc:sldMk cId="0" sldId="262"/>
            <ac:spMk id="134" creationId="{00000000-0000-0000-0000-000000000000}"/>
          </ac:spMkLst>
        </pc:spChg>
      </pc:sldChg>
      <pc:sldChg chg="addSp delSp modSp mod">
        <pc:chgData name="David DUFOUR" userId="1b510d786c1f9072" providerId="LiveId" clId="{51FB981B-6AA7-4F8F-804A-BBC0631E8345}" dt="2025-08-29T13:51:00.912" v="442" actId="1076"/>
        <pc:sldMkLst>
          <pc:docMk/>
          <pc:sldMk cId="0" sldId="263"/>
        </pc:sldMkLst>
        <pc:spChg chg="mod">
          <ac:chgData name="David DUFOUR" userId="1b510d786c1f9072" providerId="LiveId" clId="{51FB981B-6AA7-4F8F-804A-BBC0631E8345}" dt="2025-08-29T13:50:55.592" v="441" actId="20577"/>
          <ac:spMkLst>
            <pc:docMk/>
            <pc:sldMk cId="0" sldId="263"/>
            <ac:spMk id="140" creationId="{00000000-0000-0000-0000-000000000000}"/>
          </ac:spMkLst>
        </pc:spChg>
        <pc:picChg chg="mod">
          <ac:chgData name="David DUFOUR" userId="1b510d786c1f9072" providerId="LiveId" clId="{51FB981B-6AA7-4F8F-804A-BBC0631E8345}" dt="2025-08-29T13:51:00.912" v="442" actId="1076"/>
          <ac:picMkLst>
            <pc:docMk/>
            <pc:sldMk cId="0" sldId="263"/>
            <ac:picMk id="7" creationId="{F15A0EC7-9E51-E264-38D0-BF39BE26F725}"/>
          </ac:picMkLst>
        </pc:picChg>
      </pc:sldChg>
      <pc:sldChg chg="modSp mod">
        <pc:chgData name="David DUFOUR" userId="1b510d786c1f9072" providerId="LiveId" clId="{51FB981B-6AA7-4F8F-804A-BBC0631E8345}" dt="2025-09-04T10:44:40.455" v="1063" actId="207"/>
        <pc:sldMkLst>
          <pc:docMk/>
          <pc:sldMk cId="0" sldId="264"/>
        </pc:sldMkLst>
        <pc:spChg chg="mod">
          <ac:chgData name="David DUFOUR" userId="1b510d786c1f9072" providerId="LiveId" clId="{51FB981B-6AA7-4F8F-804A-BBC0631E8345}" dt="2025-09-04T10:44:40.455" v="1063" actId="207"/>
          <ac:spMkLst>
            <pc:docMk/>
            <pc:sldMk cId="0" sldId="264"/>
            <ac:spMk id="154" creationId="{00000000-0000-0000-0000-000000000000}"/>
          </ac:spMkLst>
        </pc:spChg>
      </pc:sldChg>
      <pc:sldChg chg="addSp delSp modSp mod">
        <pc:chgData name="David DUFOUR" userId="1b510d786c1f9072" providerId="LiveId" clId="{51FB981B-6AA7-4F8F-804A-BBC0631E8345}" dt="2025-09-04T10:44:49.127" v="1065" actId="207"/>
        <pc:sldMkLst>
          <pc:docMk/>
          <pc:sldMk cId="0" sldId="265"/>
        </pc:sldMkLst>
        <pc:spChg chg="mod">
          <ac:chgData name="David DUFOUR" userId="1b510d786c1f9072" providerId="LiveId" clId="{51FB981B-6AA7-4F8F-804A-BBC0631E8345}" dt="2025-09-01T19:48:56.634" v="528" actId="20577"/>
          <ac:spMkLst>
            <pc:docMk/>
            <pc:sldMk cId="0" sldId="265"/>
            <ac:spMk id="161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4:45.555" v="1064" actId="207"/>
          <ac:spMkLst>
            <pc:docMk/>
            <pc:sldMk cId="0" sldId="265"/>
            <ac:spMk id="167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4:49.127" v="1065" actId="207"/>
          <ac:spMkLst>
            <pc:docMk/>
            <pc:sldMk cId="0" sldId="265"/>
            <ac:spMk id="169" creationId="{00000000-0000-0000-0000-000000000000}"/>
          </ac:spMkLst>
        </pc:spChg>
        <pc:picChg chg="add mod">
          <ac:chgData name="David DUFOUR" userId="1b510d786c1f9072" providerId="LiveId" clId="{51FB981B-6AA7-4F8F-804A-BBC0631E8345}" dt="2025-09-01T19:49:52.624" v="537" actId="14100"/>
          <ac:picMkLst>
            <pc:docMk/>
            <pc:sldMk cId="0" sldId="265"/>
            <ac:picMk id="3" creationId="{0379F744-D084-A0D5-C5AA-579AC816C719}"/>
          </ac:picMkLst>
        </pc:picChg>
        <pc:picChg chg="mod">
          <ac:chgData name="David DUFOUR" userId="1b510d786c1f9072" providerId="LiveId" clId="{51FB981B-6AA7-4F8F-804A-BBC0631E8345}" dt="2025-09-01T19:49:57.508" v="538" actId="14100"/>
          <ac:picMkLst>
            <pc:docMk/>
            <pc:sldMk cId="0" sldId="265"/>
            <ac:picMk id="164" creationId="{00000000-0000-0000-0000-000000000000}"/>
          </ac:picMkLst>
        </pc:picChg>
      </pc:sldChg>
      <pc:sldChg chg="modSp mod">
        <pc:chgData name="David DUFOUR" userId="1b510d786c1f9072" providerId="LiveId" clId="{51FB981B-6AA7-4F8F-804A-BBC0631E8345}" dt="2025-09-04T10:44:54.787" v="1066" actId="207"/>
        <pc:sldMkLst>
          <pc:docMk/>
          <pc:sldMk cId="0" sldId="266"/>
        </pc:sldMkLst>
        <pc:spChg chg="mod">
          <ac:chgData name="David DUFOUR" userId="1b510d786c1f9072" providerId="LiveId" clId="{51FB981B-6AA7-4F8F-804A-BBC0631E8345}" dt="2025-09-04T10:44:54.787" v="1066" actId="207"/>
          <ac:spMkLst>
            <pc:docMk/>
            <pc:sldMk cId="0" sldId="266"/>
            <ac:spMk id="179" creationId="{00000000-0000-0000-0000-000000000000}"/>
          </ac:spMkLst>
        </pc:spChg>
      </pc:sldChg>
      <pc:sldChg chg="del">
        <pc:chgData name="David DUFOUR" userId="1b510d786c1f9072" providerId="LiveId" clId="{51FB981B-6AA7-4F8F-804A-BBC0631E8345}" dt="2025-09-01T20:08:09.321" v="568" actId="47"/>
        <pc:sldMkLst>
          <pc:docMk/>
          <pc:sldMk cId="0" sldId="269"/>
        </pc:sldMkLst>
      </pc:sldChg>
      <pc:sldChg chg="del">
        <pc:chgData name="David DUFOUR" userId="1b510d786c1f9072" providerId="LiveId" clId="{51FB981B-6AA7-4F8F-804A-BBC0631E8345}" dt="2025-09-01T20:08:13.903" v="569" actId="47"/>
        <pc:sldMkLst>
          <pc:docMk/>
          <pc:sldMk cId="0" sldId="270"/>
        </pc:sldMkLst>
      </pc:sldChg>
      <pc:sldChg chg="addSp modSp mod">
        <pc:chgData name="David DUFOUR" userId="1b510d786c1f9072" providerId="LiveId" clId="{51FB981B-6AA7-4F8F-804A-BBC0631E8345}" dt="2025-09-04T10:45:09.319" v="1068" actId="207"/>
        <pc:sldMkLst>
          <pc:docMk/>
          <pc:sldMk cId="0" sldId="271"/>
        </pc:sldMkLst>
        <pc:spChg chg="add mod">
          <ac:chgData name="David DUFOUR" userId="1b510d786c1f9072" providerId="LiveId" clId="{51FB981B-6AA7-4F8F-804A-BBC0631E8345}" dt="2025-09-04T10:45:09.319" v="1068" actId="207"/>
          <ac:spMkLst>
            <pc:docMk/>
            <pc:sldMk cId="0" sldId="271"/>
            <ac:spMk id="2" creationId="{33133BC3-A4EB-7879-E45B-6DBC4B870D6B}"/>
          </ac:spMkLst>
        </pc:spChg>
        <pc:spChg chg="mod">
          <ac:chgData name="David DUFOUR" userId="1b510d786c1f9072" providerId="LiveId" clId="{51FB981B-6AA7-4F8F-804A-BBC0631E8345}" dt="2025-09-04T10:45:02.378" v="1067" actId="207"/>
          <ac:spMkLst>
            <pc:docMk/>
            <pc:sldMk cId="0" sldId="271"/>
            <ac:spMk id="226" creationId="{00000000-0000-0000-0000-000000000000}"/>
          </ac:spMkLst>
        </pc:spChg>
        <pc:picChg chg="mod">
          <ac:chgData name="David DUFOUR" userId="1b510d786c1f9072" providerId="LiveId" clId="{51FB981B-6AA7-4F8F-804A-BBC0631E8345}" dt="2025-09-02T07:17:35.970" v="870" actId="1076"/>
          <ac:picMkLst>
            <pc:docMk/>
            <pc:sldMk cId="0" sldId="271"/>
            <ac:picMk id="225" creationId="{00000000-0000-0000-0000-000000000000}"/>
          </ac:picMkLst>
        </pc:picChg>
      </pc:sldChg>
      <pc:sldChg chg="del">
        <pc:chgData name="David DUFOUR" userId="1b510d786c1f9072" providerId="LiveId" clId="{51FB981B-6AA7-4F8F-804A-BBC0631E8345}" dt="2025-09-01T20:08:27.054" v="570" actId="47"/>
        <pc:sldMkLst>
          <pc:docMk/>
          <pc:sldMk cId="0" sldId="274"/>
        </pc:sldMkLst>
      </pc:sldChg>
      <pc:sldChg chg="del">
        <pc:chgData name="David DUFOUR" userId="1b510d786c1f9072" providerId="LiveId" clId="{51FB981B-6AA7-4F8F-804A-BBC0631E8345}" dt="2025-09-01T20:08:29.942" v="571" actId="47"/>
        <pc:sldMkLst>
          <pc:docMk/>
          <pc:sldMk cId="0" sldId="275"/>
        </pc:sldMkLst>
      </pc:sldChg>
      <pc:sldChg chg="addSp delSp modSp mod">
        <pc:chgData name="David DUFOUR" userId="1b510d786c1f9072" providerId="LiveId" clId="{51FB981B-6AA7-4F8F-804A-BBC0631E8345}" dt="2025-09-04T10:45:16.675" v="1069" actId="207"/>
        <pc:sldMkLst>
          <pc:docMk/>
          <pc:sldMk cId="0" sldId="276"/>
        </pc:sldMkLst>
        <pc:spChg chg="mod">
          <ac:chgData name="David DUFOUR" userId="1b510d786c1f9072" providerId="LiveId" clId="{51FB981B-6AA7-4F8F-804A-BBC0631E8345}" dt="2025-09-01T20:12:41.890" v="593" actId="20577"/>
          <ac:spMkLst>
            <pc:docMk/>
            <pc:sldMk cId="0" sldId="276"/>
            <ac:spMk id="269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5:16.675" v="1069" actId="207"/>
          <ac:spMkLst>
            <pc:docMk/>
            <pc:sldMk cId="0" sldId="276"/>
            <ac:spMk id="273" creationId="{00000000-0000-0000-0000-000000000000}"/>
          </ac:spMkLst>
        </pc:spChg>
        <pc:picChg chg="add mod">
          <ac:chgData name="David DUFOUR" userId="1b510d786c1f9072" providerId="LiveId" clId="{51FB981B-6AA7-4F8F-804A-BBC0631E8345}" dt="2025-09-01T20:18:08.188" v="619" actId="14100"/>
          <ac:picMkLst>
            <pc:docMk/>
            <pc:sldMk cId="0" sldId="276"/>
            <ac:picMk id="6" creationId="{2C129C27-DB79-A989-1982-16668BFBCC40}"/>
          </ac:picMkLst>
        </pc:picChg>
      </pc:sldChg>
      <pc:sldChg chg="modSp mod">
        <pc:chgData name="David DUFOUR" userId="1b510d786c1f9072" providerId="LiveId" clId="{51FB981B-6AA7-4F8F-804A-BBC0631E8345}" dt="2025-09-04T10:45:46.162" v="1074" actId="207"/>
        <pc:sldMkLst>
          <pc:docMk/>
          <pc:sldMk cId="0" sldId="278"/>
        </pc:sldMkLst>
        <pc:spChg chg="mod">
          <ac:chgData name="David DUFOUR" userId="1b510d786c1f9072" providerId="LiveId" clId="{51FB981B-6AA7-4F8F-804A-BBC0631E8345}" dt="2025-09-04T10:45:46.162" v="1074" actId="207"/>
          <ac:spMkLst>
            <pc:docMk/>
            <pc:sldMk cId="0" sldId="278"/>
            <ac:spMk id="296" creationId="{00000000-0000-0000-0000-000000000000}"/>
          </ac:spMkLst>
        </pc:spChg>
      </pc:sldChg>
      <pc:sldChg chg="modSp mod">
        <pc:chgData name="David DUFOUR" userId="1b510d786c1f9072" providerId="LiveId" clId="{51FB981B-6AA7-4F8F-804A-BBC0631E8345}" dt="2025-09-04T10:45:51.744" v="1075" actId="207"/>
        <pc:sldMkLst>
          <pc:docMk/>
          <pc:sldMk cId="0" sldId="279"/>
        </pc:sldMkLst>
        <pc:spChg chg="mod">
          <ac:chgData name="David DUFOUR" userId="1b510d786c1f9072" providerId="LiveId" clId="{51FB981B-6AA7-4F8F-804A-BBC0631E8345}" dt="2025-09-04T10:45:51.744" v="1075" actId="207"/>
          <ac:spMkLst>
            <pc:docMk/>
            <pc:sldMk cId="0" sldId="279"/>
            <ac:spMk id="305" creationId="{00000000-0000-0000-0000-000000000000}"/>
          </ac:spMkLst>
        </pc:spChg>
      </pc:sldChg>
      <pc:sldChg chg="addSp delSp modSp mod">
        <pc:chgData name="David DUFOUR" userId="1b510d786c1f9072" providerId="LiveId" clId="{51FB981B-6AA7-4F8F-804A-BBC0631E8345}" dt="2025-09-04T10:46:04.616" v="1077" actId="207"/>
        <pc:sldMkLst>
          <pc:docMk/>
          <pc:sldMk cId="0" sldId="280"/>
        </pc:sldMkLst>
        <pc:spChg chg="mod">
          <ac:chgData name="David DUFOUR" userId="1b510d786c1f9072" providerId="LiveId" clId="{51FB981B-6AA7-4F8F-804A-BBC0631E8345}" dt="2025-09-04T10:45:59.535" v="1076" actId="207"/>
          <ac:spMkLst>
            <pc:docMk/>
            <pc:sldMk cId="0" sldId="280"/>
            <ac:spMk id="314" creationId="{00000000-0000-0000-0000-000000000000}"/>
          </ac:spMkLst>
        </pc:spChg>
        <pc:spChg chg="mod">
          <ac:chgData name="David DUFOUR" userId="1b510d786c1f9072" providerId="LiveId" clId="{51FB981B-6AA7-4F8F-804A-BBC0631E8345}" dt="2025-09-04T10:46:04.616" v="1077" actId="207"/>
          <ac:spMkLst>
            <pc:docMk/>
            <pc:sldMk cId="0" sldId="280"/>
            <ac:spMk id="315" creationId="{00000000-0000-0000-0000-000000000000}"/>
          </ac:spMkLst>
        </pc:spChg>
        <pc:picChg chg="mod">
          <ac:chgData name="David DUFOUR" userId="1b510d786c1f9072" providerId="LiveId" clId="{51FB981B-6AA7-4F8F-804A-BBC0631E8345}" dt="2025-09-01T20:40:34.944" v="858" actId="1076"/>
          <ac:picMkLst>
            <pc:docMk/>
            <pc:sldMk cId="0" sldId="280"/>
            <ac:picMk id="316" creationId="{00000000-0000-0000-0000-000000000000}"/>
          </ac:picMkLst>
        </pc:picChg>
      </pc:sldChg>
      <pc:sldChg chg="modSp mod">
        <pc:chgData name="David DUFOUR" userId="1b510d786c1f9072" providerId="LiveId" clId="{51FB981B-6AA7-4F8F-804A-BBC0631E8345}" dt="2025-09-04T10:44:35.806" v="1062" actId="207"/>
        <pc:sldMkLst>
          <pc:docMk/>
          <pc:sldMk cId="3657494600" sldId="281"/>
        </pc:sldMkLst>
        <pc:spChg chg="mod">
          <ac:chgData name="David DUFOUR" userId="1b510d786c1f9072" providerId="LiveId" clId="{51FB981B-6AA7-4F8F-804A-BBC0631E8345}" dt="2025-09-04T10:44:35.806" v="1062" actId="207"/>
          <ac:spMkLst>
            <pc:docMk/>
            <pc:sldMk cId="3657494600" sldId="281"/>
            <ac:spMk id="144" creationId="{46E5C3DD-D9EA-944E-CA91-BC18A6EE030E}"/>
          </ac:spMkLst>
        </pc:spChg>
      </pc:sldChg>
      <pc:sldChg chg="modSp add mod">
        <pc:chgData name="David DUFOUR" userId="1b510d786c1f9072" providerId="LiveId" clId="{51FB981B-6AA7-4F8F-804A-BBC0631E8345}" dt="2025-09-04T10:45:23.283" v="1070" actId="207"/>
        <pc:sldMkLst>
          <pc:docMk/>
          <pc:sldMk cId="3492216423" sldId="282"/>
        </pc:sldMkLst>
        <pc:spChg chg="mod">
          <ac:chgData name="David DUFOUR" userId="1b510d786c1f9072" providerId="LiveId" clId="{51FB981B-6AA7-4F8F-804A-BBC0631E8345}" dt="2025-09-04T10:45:23.283" v="1070" actId="207"/>
          <ac:spMkLst>
            <pc:docMk/>
            <pc:sldMk cId="3492216423" sldId="282"/>
            <ac:spMk id="273" creationId="{61C0984A-8896-1707-3A5D-BE04A16B2D79}"/>
          </ac:spMkLst>
        </pc:spChg>
      </pc:sldChg>
      <pc:sldChg chg="addSp delSp modSp add mod">
        <pc:chgData name="David DUFOUR" userId="1b510d786c1f9072" providerId="LiveId" clId="{51FB981B-6AA7-4F8F-804A-BBC0631E8345}" dt="2025-09-04T10:45:28.865" v="1071" actId="207"/>
        <pc:sldMkLst>
          <pc:docMk/>
          <pc:sldMk cId="1927258163" sldId="283"/>
        </pc:sldMkLst>
        <pc:spChg chg="mod">
          <ac:chgData name="David DUFOUR" userId="1b510d786c1f9072" providerId="LiveId" clId="{51FB981B-6AA7-4F8F-804A-BBC0631E8345}" dt="2025-09-01T20:19:54.830" v="640" actId="20577"/>
          <ac:spMkLst>
            <pc:docMk/>
            <pc:sldMk cId="1927258163" sldId="283"/>
            <ac:spMk id="269" creationId="{EF14C85B-1FEC-7AB6-ED4C-86EC8E72BEA5}"/>
          </ac:spMkLst>
        </pc:spChg>
        <pc:spChg chg="mod">
          <ac:chgData name="David DUFOUR" userId="1b510d786c1f9072" providerId="LiveId" clId="{51FB981B-6AA7-4F8F-804A-BBC0631E8345}" dt="2025-09-04T10:45:28.865" v="1071" actId="207"/>
          <ac:spMkLst>
            <pc:docMk/>
            <pc:sldMk cId="1927258163" sldId="283"/>
            <ac:spMk id="273" creationId="{37DA8D06-7F49-A4DB-D9BA-8410C96A597C}"/>
          </ac:spMkLst>
        </pc:spChg>
        <pc:picChg chg="add mod">
          <ac:chgData name="David DUFOUR" userId="1b510d786c1f9072" providerId="LiveId" clId="{51FB981B-6AA7-4F8F-804A-BBC0631E8345}" dt="2025-09-01T20:19:40.516" v="629" actId="14100"/>
          <ac:picMkLst>
            <pc:docMk/>
            <pc:sldMk cId="1927258163" sldId="283"/>
            <ac:picMk id="4" creationId="{5831D64C-1A01-22E1-FEB7-1EDF7A9259AF}"/>
          </ac:picMkLst>
        </pc:picChg>
      </pc:sldChg>
      <pc:sldChg chg="addSp delSp modSp add mod">
        <pc:chgData name="David DUFOUR" userId="1b510d786c1f9072" providerId="LiveId" clId="{51FB981B-6AA7-4F8F-804A-BBC0631E8345}" dt="2025-09-04T10:45:33.990" v="1072" actId="207"/>
        <pc:sldMkLst>
          <pc:docMk/>
          <pc:sldMk cId="51613255" sldId="284"/>
        </pc:sldMkLst>
        <pc:spChg chg="mod">
          <ac:chgData name="David DUFOUR" userId="1b510d786c1f9072" providerId="LiveId" clId="{51FB981B-6AA7-4F8F-804A-BBC0631E8345}" dt="2025-09-01T20:27:05.837" v="676" actId="20577"/>
          <ac:spMkLst>
            <pc:docMk/>
            <pc:sldMk cId="51613255" sldId="284"/>
            <ac:spMk id="269" creationId="{6013896A-54BC-EA50-A35A-67F6BAB0B25B}"/>
          </ac:spMkLst>
        </pc:spChg>
        <pc:spChg chg="mod">
          <ac:chgData name="David DUFOUR" userId="1b510d786c1f9072" providerId="LiveId" clId="{51FB981B-6AA7-4F8F-804A-BBC0631E8345}" dt="2025-09-04T10:45:33.990" v="1072" actId="207"/>
          <ac:spMkLst>
            <pc:docMk/>
            <pc:sldMk cId="51613255" sldId="284"/>
            <ac:spMk id="273" creationId="{4A0A7E7B-D7E5-62B0-16E4-1E644520E3E9}"/>
          </ac:spMkLst>
        </pc:spChg>
        <pc:picChg chg="add mod">
          <ac:chgData name="David DUFOUR" userId="1b510d786c1f9072" providerId="LiveId" clId="{51FB981B-6AA7-4F8F-804A-BBC0631E8345}" dt="2025-09-01T20:27:38.785" v="685" actId="1076"/>
          <ac:picMkLst>
            <pc:docMk/>
            <pc:sldMk cId="51613255" sldId="284"/>
            <ac:picMk id="3" creationId="{20D2C797-9391-0D5A-4031-429D05FFB9A1}"/>
          </ac:picMkLst>
        </pc:picChg>
      </pc:sldChg>
      <pc:sldChg chg="addSp delSp modSp add mod">
        <pc:chgData name="David DUFOUR" userId="1b510d786c1f9072" providerId="LiveId" clId="{51FB981B-6AA7-4F8F-804A-BBC0631E8345}" dt="2025-09-04T10:45:39.122" v="1073" actId="207"/>
        <pc:sldMkLst>
          <pc:docMk/>
          <pc:sldMk cId="3504250391" sldId="285"/>
        </pc:sldMkLst>
        <pc:spChg chg="mod">
          <ac:chgData name="David DUFOUR" userId="1b510d786c1f9072" providerId="LiveId" clId="{51FB981B-6AA7-4F8F-804A-BBC0631E8345}" dt="2025-09-02T07:36:42.558" v="897" actId="20577"/>
          <ac:spMkLst>
            <pc:docMk/>
            <pc:sldMk cId="3504250391" sldId="285"/>
            <ac:spMk id="269" creationId="{C4080351-E8A1-94A3-7DCA-DA59281FB588}"/>
          </ac:spMkLst>
        </pc:spChg>
        <pc:spChg chg="mod">
          <ac:chgData name="David DUFOUR" userId="1b510d786c1f9072" providerId="LiveId" clId="{51FB981B-6AA7-4F8F-804A-BBC0631E8345}" dt="2025-09-04T10:45:39.122" v="1073" actId="207"/>
          <ac:spMkLst>
            <pc:docMk/>
            <pc:sldMk cId="3504250391" sldId="285"/>
            <ac:spMk id="273" creationId="{D54CFEFE-C486-D0CE-5FCC-60D17315BC9E}"/>
          </ac:spMkLst>
        </pc:spChg>
        <pc:picChg chg="add mod">
          <ac:chgData name="David DUFOUR" userId="1b510d786c1f9072" providerId="LiveId" clId="{51FB981B-6AA7-4F8F-804A-BBC0631E8345}" dt="2025-09-02T07:38:28.424" v="907" actId="14100"/>
          <ac:picMkLst>
            <pc:docMk/>
            <pc:sldMk cId="3504250391" sldId="285"/>
            <ac:picMk id="4" creationId="{A7A2BA57-ED84-4811-54B3-DE3640D0C2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26216f2d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126216f2d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946255cb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34946255cb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86e688a6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686e688a6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0ed1d9b2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10ed1d9b2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12334ca7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612334ca7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 dirty="0">
                <a:solidFill>
                  <a:schemeClr val="dk1"/>
                </a:solidFill>
                <a:highlight>
                  <a:srgbClr val="FFFFFF"/>
                </a:highlight>
              </a:rPr>
              <a:t>F2 est fortement représenté à la hausse par les variables initiales "PIB" et "Population" : Le dénominateur commun ici est la richesse économique et démographique (le PIB mesure la richesse économique mais son calcul est souvent corrélé à la population : un pays fortement peuplé produit souvent un fort PIB en valeur absolue)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 dirty="0">
                <a:solidFill>
                  <a:schemeClr val="dk1"/>
                </a:solidFill>
                <a:highlight>
                  <a:srgbClr val="FFFFFF"/>
                </a:highlight>
              </a:rPr>
              <a:t>F1 est moyennement représenté à la hausse par les variables initiales "IPL" et "Accès électricité" =&gt; Le lien est la qualité des infrastructures propre à chaque pays (notamment les infrastructures électriques)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 dirty="0">
                <a:solidFill>
                  <a:schemeClr val="dk1"/>
                </a:solidFill>
                <a:highlight>
                  <a:srgbClr val="FFFFFF"/>
                </a:highlight>
              </a:rPr>
              <a:t>F1 est moyennement représenté à la baisse par les variables initiales "Taux de pop. urbaine" et "% var. population" : Ici il est question de la transformation démographique et urbaine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050" dirty="0">
                <a:solidFill>
                  <a:schemeClr val="dk1"/>
                </a:solidFill>
                <a:highlight>
                  <a:srgbClr val="FFFFFF"/>
                </a:highlight>
              </a:rPr>
              <a:t>Interprétation :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 dirty="0">
                <a:solidFill>
                  <a:schemeClr val="dk1"/>
                </a:solidFill>
                <a:highlight>
                  <a:srgbClr val="FFFFFF"/>
                </a:highlight>
              </a:rPr>
              <a:t>L'axe F1 peut être vu comme un axe représentant l'accès à des infrastructures développées et la transition sociodémographique rapide (urbanisation + croissance de la population)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 dirty="0">
                <a:solidFill>
                  <a:schemeClr val="dk1"/>
                </a:solidFill>
                <a:highlight>
                  <a:srgbClr val="FFFFFF"/>
                </a:highlight>
              </a:rPr>
              <a:t>L'axe F2 peut être vu comme un axe de richesse économique et démographique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12334ca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612334ca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Interprétation 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"Critère de Kaiser" : On ne retient pas les axes dont l’inertie associée est &lt;(100/p)% soit =(100/12)% =8.33% ici (représentent moins de variabilité qu’une seule variable initiale). Dans notre cas, on ne retient pas les composantes n°6 et 7 car elles représentent respectivement 5.1% et 4.5% d'inertie.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"Méthode du coude" : On remarque une zone à partir de laquelle le % d’inertie diminue beaucoup plus lentement lorsque l’on parcourt le diagramme des éboulis de gauche à droite : cette zone se situe entre la 5e et la 6e barre représentant les composantes 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% cumulé de variance expliquée : On constate sur le graphique que 80% de la variance est comprise dans les 5 premières composantes, et 90% dans les 7 premières composantes 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Conclusion : On retient finalement 5 composantes (80%. Nous aurons 2 plans à générer (plan F1-F2, plan F3-F4-F5.)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9A28B9A3-745C-A912-A635-694F13B94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12334ca74_0_1:notes">
            <a:extLst>
              <a:ext uri="{FF2B5EF4-FFF2-40B4-BE49-F238E27FC236}">
                <a16:creationId xmlns:a16="http://schemas.microsoft.com/office/drawing/2014/main" id="{987738A8-7BEC-272F-7ECE-5041DBAF7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612334ca74_0_1:notes">
            <a:extLst>
              <a:ext uri="{FF2B5EF4-FFF2-40B4-BE49-F238E27FC236}">
                <a16:creationId xmlns:a16="http://schemas.microsoft.com/office/drawing/2014/main" id="{0CF78D8E-973D-447B-8381-2117FA7C60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F2 est fortement représenté à la hausse par les variables initiales "PIB" et "Population" : Le dénominateur commun ici est la richesse économique et démographique (le PIB mesure la richesse économique mais son calcul est souvent corrélé à la population : un pays fortement peuplé produit souvent un fort PIB en valeur absolue)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F1 est moyennement représenté à la hausse par les variables initiales "IPL" et "Accès électricité" =&gt; Le lien est la qualité des infrastructures propre à chaque pays (notamment les infrastructures électriques)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F1 est moyennement représenté à la baisse par les variables initiales "Taux de pop. urbaine" et "% var. population" : Ici il est question de la transformation démographique et urbaine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Interprétation 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L'axe F1 peut être vu comme un axe représentant l'accès à des infrastructures développées et la transition sociodémographique rapide (urbanisation + croissance de la population)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L'axe F2 peut être vu comme un axe de richesse économique et démographique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216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6fec01c7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66fec01c7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F4 est fortement représenté à la hausse par les variables initiales "Distance", "Taux de population urbaine" et "% variation population" : les notions de localisation géographique et d'urbanisation interviennent ici.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F3 est essentiellement représentée à la hausse par les variables initiales "% Importations volailles vs importations protéines animales" et "Importations viande de volailles" : On parle ici de la dépendance commerciale vis-à-vis de la volaille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Interprétation 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L'axe F3 peut être vu comme le degré de dépendance alimentaire à la volaille comme source principale de protéine animale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L'axe F4 traduit comment les territoires se transforment en fonction de leur localisation géographique, leur degré d’urbanisation et leur vitalité démographique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12334ca7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612334ca7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12334ca7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612334ca7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Interprétation 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- On observe 3 couleurs dominantes (orange, vert et rouge) dont le cluster de rouge qui est le plus important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- Si on coupe l'arbre à mi-distance (entre 10 et 15), alors nous distinguons 4 clusters différents (orange, vert et 2 rouges)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Afin de pouvoir comparer les 2 méthodes (Classification hiérarchique et K-Means), on décide de retenir autant de clusters pour la classification hiérarchique qu'avec le K-Means, à savoir 4 clusters. Cela correspond au nombre de clusters visibles à mi-distance sur notre dendogramme ci-dessus.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6fec01c7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66fec01c7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Remarques concernant les emplacements géographiques selon les clusters 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Cluster "a" : Essentiellement les pays d'Europe, Canada, Mexique, Arabie Saoudite et Afrique du Sud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Cluster "b" : Toute l'Amérique du Sud, l'Océanie, quelques pays d'Afrique du Nord, Russie et Ukraine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Cluster "c" : Inde et les Etats-Unis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Cluster "d" : Essentiellement les pays d'Afrique et quelques pays d'Orient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12334ca7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612334ca7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Interprétation du plan F1/F2 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Les clusters sont facilement identifiables à l'oeil nu (inertie inter-classe maximisée), ils sont par ailleurs assez ressérés sur eux-mêmes (inertie intra-classe minimisée)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Pour notre développement à l'international, on devrait se concentrer sur les pays situés dans la zone avec une composante F1 max (IPL, accès éléctricité, stabilité politique) et une composante F2 autour de 0 (population, PIB et % importations volailles influençant F2 dans le sens inverse) : cela correspond au cluster a.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12334ca7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612334ca7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6fec01c7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66fec01c7e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Remarques concernant les emplacements géographiques selon les clusters 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Cluster "a" et "d" : Divers pays étalés sur tous les continents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Cluster "b" : Inde (seul et unique pays du cluster)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" sz="1050">
                <a:solidFill>
                  <a:schemeClr val="dk1"/>
                </a:solidFill>
                <a:highlight>
                  <a:srgbClr val="FFFFFF"/>
                </a:highlight>
              </a:rPr>
              <a:t>Clusters "c" : Quelques pays éloignés de la France =&gt; Mexique, Brésil, Russie, Nigeria, Pakistan + plusieurs pays d'Asie du Sud-Est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6fec01c7e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366fec01c7e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Interprétation du plan F1/F2 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Les clusters sont difficilement identifiables à l'oeil nu, ils se superposent les uns aux autres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Sans l'affichage des centroïdes, il est compliqué de les identifier sur le plan : l'algorithme K-Means n'est pas parvenu à minimiser efficacement l'inertie intra-classe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Pour notre développement à l'international, on devrait se concentrer sur les pays situés dans la zone avec une composante F1 max (IPL, accès éléctricité, stabilité politique) et une composante F2 autour de 0 (population, PIB et % importations volailles influençant F2 dans le sens inverse) : cela correspond au cluster a.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12334ca7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612334ca74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82AC913F-5C27-566E-35EC-89116A00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12334ca74_0_78:notes">
            <a:extLst>
              <a:ext uri="{FF2B5EF4-FFF2-40B4-BE49-F238E27FC236}">
                <a16:creationId xmlns:a16="http://schemas.microsoft.com/office/drawing/2014/main" id="{089CC578-60EB-66DB-CFF6-1E61C5BFF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612334ca74_0_78:notes">
            <a:extLst>
              <a:ext uri="{FF2B5EF4-FFF2-40B4-BE49-F238E27FC236}">
                <a16:creationId xmlns:a16="http://schemas.microsoft.com/office/drawing/2014/main" id="{60DA7381-FA04-C616-C66C-740B465AB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7335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8DAFE248-12D4-07E4-048F-24C35F82A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12334ca74_0_78:notes">
            <a:extLst>
              <a:ext uri="{FF2B5EF4-FFF2-40B4-BE49-F238E27FC236}">
                <a16:creationId xmlns:a16="http://schemas.microsoft.com/office/drawing/2014/main" id="{E937459D-33BE-9C65-E8A7-1DCB68B663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612334ca74_0_78:notes">
            <a:extLst>
              <a:ext uri="{FF2B5EF4-FFF2-40B4-BE49-F238E27FC236}">
                <a16:creationId xmlns:a16="http://schemas.microsoft.com/office/drawing/2014/main" id="{6E34D017-B440-6A8D-415C-258B87519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403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532BB779-48F7-BFA4-8B3E-0AA51372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12334ca74_0_78:notes">
            <a:extLst>
              <a:ext uri="{FF2B5EF4-FFF2-40B4-BE49-F238E27FC236}">
                <a16:creationId xmlns:a16="http://schemas.microsoft.com/office/drawing/2014/main" id="{F5356EB9-851E-3CA2-026E-1E6A87E5F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612334ca74_0_78:notes">
            <a:extLst>
              <a:ext uri="{FF2B5EF4-FFF2-40B4-BE49-F238E27FC236}">
                <a16:creationId xmlns:a16="http://schemas.microsoft.com/office/drawing/2014/main" id="{23F2362C-A9B8-2879-3A55-2BB3ACAF0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2715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028344BD-C0AD-258D-351D-A7258BF0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12334ca74_0_78:notes">
            <a:extLst>
              <a:ext uri="{FF2B5EF4-FFF2-40B4-BE49-F238E27FC236}">
                <a16:creationId xmlns:a16="http://schemas.microsoft.com/office/drawing/2014/main" id="{11F095BA-3C20-2608-F5B5-EF3F73BF9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612334ca74_0_78:notes">
            <a:extLst>
              <a:ext uri="{FF2B5EF4-FFF2-40B4-BE49-F238E27FC236}">
                <a16:creationId xmlns:a16="http://schemas.microsoft.com/office/drawing/2014/main" id="{11D222C4-006E-C65B-5439-9FA017288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8493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6fec01c7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66fec01c7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6fec01c7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66fec01c7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6fec01c7e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366fec01c7e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29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le plus intéressant si l'on souhaite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commercialiser des poulets à l'international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il constitue le cluster privilégié pour 6 des 11 variables initiales. 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29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choisissant d'étendre l'activité dans les pays du cluster a, on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minimise les frais et les complexités logistiques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liées aux infrastructures, on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minimise les risques géopolitiques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et on vient répondre à des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besoins réels d'importation de viande de volaille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29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concentre l'essentiel des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importations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volailles en valeur 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alors même que le cluster c comporte beaucoup plus d'habitants, produit plus de richesse et que les pays du cluster d importent une proportion de viande de volaille plus importante que les autres clusters.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40972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6958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25631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81783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90331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93504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38512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56294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42105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798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58499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990174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65590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79159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90607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83651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50931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393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973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  <p:sldLayoutId id="2147484007" r:id="rId12"/>
    <p:sldLayoutId id="2147484008" r:id="rId13"/>
    <p:sldLayoutId id="2147484009" r:id="rId14"/>
    <p:sldLayoutId id="2147484010" r:id="rId15"/>
    <p:sldLayoutId id="2147484011" r:id="rId16"/>
    <p:sldLayoutId id="2147484012" r:id="rId17"/>
    <p:sldLayoutId id="2147484013" r:id="rId18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fr/vectors/coq-poule-ferme-animaux-oiseaux-311092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00808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A86C37-B0E6-4AAC-0134-FE8B50E53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8463" y="33050"/>
            <a:ext cx="7527073" cy="5143500"/>
          </a:xfrm>
          <a:prstGeom prst="rect">
            <a:avLst/>
          </a:prstGeom>
        </p:spPr>
      </p:pic>
      <p:sp>
        <p:nvSpPr>
          <p:cNvPr id="55" name="Google Shape;55;p1"/>
          <p:cNvSpPr txBox="1"/>
          <p:nvPr/>
        </p:nvSpPr>
        <p:spPr>
          <a:xfrm>
            <a:off x="773625" y="894800"/>
            <a:ext cx="77901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506"/>
              <a:buFont typeface="Arial"/>
              <a:buNone/>
            </a:pPr>
            <a:r>
              <a:rPr lang="fr" sz="5745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La poule qui chante</a:t>
            </a:r>
            <a:endParaRPr sz="574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52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Etude </a:t>
            </a:r>
            <a:r>
              <a:rPr lang="fr" sz="5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de marché</a:t>
            </a:r>
            <a:endParaRPr sz="52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2634052" y="3507361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David DUFOUR</a:t>
            </a:r>
            <a:endParaRPr sz="25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634052" y="3900279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1700" b="1" i="1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Formation Data Analyst</a:t>
            </a:r>
            <a:endParaRPr sz="2500" b="1" i="1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2581840" y="4345446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1700" b="1" i="1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08.2025</a:t>
            </a:r>
            <a:endParaRPr sz="2500" b="1" i="1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895525" y="1488525"/>
            <a:ext cx="7805100" cy="3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1100" b="1" dirty="0">
                <a:solidFill>
                  <a:srgbClr val="0070C0"/>
                </a:solidFill>
              </a:rPr>
              <a:t>Contexte 					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Choix des indicateurs et leurs sources		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Étapes de l’analyse				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Pré-traitement des données			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Analyse UNIVARIEE – BIVARIEE			</a:t>
            </a:r>
          </a:p>
          <a:p>
            <a:r>
              <a:rPr lang="fr-FR" sz="1100" b="1" dirty="0">
                <a:solidFill>
                  <a:srgbClr val="0070C0"/>
                </a:solidFill>
              </a:rPr>
              <a:t>ACP (Analyse en composantes principales)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Clustering – Classification hiérarchique (CAH)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Clustering – K-</a:t>
            </a:r>
            <a:r>
              <a:rPr lang="fr-FR" sz="1100" b="1" dirty="0" err="1">
                <a:solidFill>
                  <a:srgbClr val="0070C0"/>
                </a:solidFill>
              </a:rPr>
              <a:t>Means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Analyses post-clustering			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Recommandations				</a:t>
            </a:r>
            <a:endParaRPr lang="fr-FR" sz="1100" dirty="0">
              <a:solidFill>
                <a:srgbClr val="0070C0"/>
              </a:solidFill>
            </a:endParaRPr>
          </a:p>
          <a:p>
            <a:r>
              <a:rPr lang="fr-FR" sz="1100" b="1" dirty="0">
                <a:solidFill>
                  <a:srgbClr val="0070C0"/>
                </a:solidFill>
              </a:rPr>
              <a:t>Conclusion	</a:t>
            </a:r>
            <a:r>
              <a:rPr lang="fr-FR" sz="1100" b="1" dirty="0">
                <a:solidFill>
                  <a:srgbClr val="FF0000"/>
                </a:solidFill>
              </a:rPr>
              <a:t>			</a:t>
            </a:r>
            <a:endParaRPr lang="fr-FR" sz="1100" dirty="0">
              <a:solidFill>
                <a:srgbClr val="FF0000"/>
              </a:solidFill>
            </a:endParaRPr>
          </a:p>
        </p:txBody>
      </p:sp>
      <p:sp>
        <p:nvSpPr>
          <p:cNvPr id="67" name="Google Shape;67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23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r>
              <a:rPr lang="fr" sz="25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5"/>
                  </a:ext>
                </a:extLst>
              </a:rPr>
              <a:t> </a:t>
            </a:r>
            <a:endParaRPr sz="25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26216f2df_0_6"/>
          <p:cNvSpPr txBox="1">
            <a:spLocks noGrp="1"/>
          </p:cNvSpPr>
          <p:nvPr>
            <p:ph type="body" idx="1"/>
          </p:nvPr>
        </p:nvSpPr>
        <p:spPr>
          <a:xfrm>
            <a:off x="289050" y="1606213"/>
            <a:ext cx="8565900" cy="28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7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016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" sz="11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La Poule Qui Chante</a:t>
            </a:r>
            <a:endParaRPr sz="115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0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Entreprise française d’agroalimentaire </a:t>
            </a: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0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Activité principale : élevage + vente de poulets sous le label “Poulet Agriculture Biologique”</a:t>
            </a: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016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" sz="11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Contexte actuel</a:t>
            </a:r>
            <a:endParaRPr sz="115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Activité de l’entreprise limitée à la France pour le moment</a:t>
            </a: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L’entreprise souhaite évaluer la possibilité de se développer à l'international</a:t>
            </a: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L’entreprise est ouvert à tous les continents et tous les pays pour son développement</a:t>
            </a: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016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" sz="11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Objectifs finaux</a:t>
            </a:r>
            <a:endParaRPr sz="11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Proposition d’une analyse des groupements de pays à cibler pour l’exportation de poulets</a:t>
            </a: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pays présentant le plus d’opportunités pour le développement international</a:t>
            </a:r>
            <a:endParaRPr sz="10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g3126216f2df_0_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sp>
        <p:nvSpPr>
          <p:cNvPr id="74" name="Google Shape;74;g3126216f2df_0_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23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126216f2df_0_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6"/>
                  </a:ext>
                </a:extLst>
              </a:rPr>
              <a:t>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g3126216f2df_0_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946255cb6_0_6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4946255cb6_0_60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Choix des indicateurs et leurs sources</a:t>
            </a:r>
            <a:endParaRPr sz="22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g34946255cb6_0_6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4946255cb6_0_6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pic>
        <p:nvPicPr>
          <p:cNvPr id="86" name="Google Shape;86;g34946255cb6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08650"/>
            <a:ext cx="8839203" cy="1836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86e688a6f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686e688a6f_0_7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Etapes de l’analyse</a:t>
            </a:r>
            <a:endParaRPr sz="22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686e688a6f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686e688a6f_0_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95" name="Google Shape;95;g3686e688a6f_0_7"/>
          <p:cNvSpPr/>
          <p:nvPr/>
        </p:nvSpPr>
        <p:spPr>
          <a:xfrm>
            <a:off x="470525" y="2190360"/>
            <a:ext cx="1503900" cy="1054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70C0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NETTOYAGE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g3686e688a6f_0_7"/>
          <p:cNvSpPr/>
          <p:nvPr/>
        </p:nvSpPr>
        <p:spPr>
          <a:xfrm>
            <a:off x="2152191" y="2190316"/>
            <a:ext cx="1503900" cy="1054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70C0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PRÉPARATION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7" name="Google Shape;97;g3686e688a6f_0_7"/>
          <p:cNvSpPr/>
          <p:nvPr/>
        </p:nvSpPr>
        <p:spPr>
          <a:xfrm>
            <a:off x="3833835" y="2190388"/>
            <a:ext cx="1503900" cy="1054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70C0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EXPLORATION </a:t>
            </a:r>
            <a:endParaRPr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686e688a6f_0_7"/>
          <p:cNvSpPr/>
          <p:nvPr/>
        </p:nvSpPr>
        <p:spPr>
          <a:xfrm>
            <a:off x="5515501" y="2190344"/>
            <a:ext cx="1503900" cy="1054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70C0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g3686e688a6f_0_7"/>
          <p:cNvSpPr/>
          <p:nvPr/>
        </p:nvSpPr>
        <p:spPr>
          <a:xfrm>
            <a:off x="7197157" y="2190275"/>
            <a:ext cx="1503900" cy="1054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70C0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ANALYSE DES RÉSULTATS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3686e688a6f_0_7"/>
          <p:cNvSpPr/>
          <p:nvPr/>
        </p:nvSpPr>
        <p:spPr>
          <a:xfrm>
            <a:off x="948125" y="1610125"/>
            <a:ext cx="452700" cy="4623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b="1" dirty="0">
                <a:solidFill>
                  <a:schemeClr val="bg1"/>
                </a:solidFill>
              </a:rPr>
              <a:t>1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101" name="Google Shape;101;g3686e688a6f_0_7"/>
          <p:cNvSpPr/>
          <p:nvPr/>
        </p:nvSpPr>
        <p:spPr>
          <a:xfrm>
            <a:off x="2624525" y="1610125"/>
            <a:ext cx="452700" cy="4623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b="1" dirty="0">
                <a:solidFill>
                  <a:schemeClr val="bg1"/>
                </a:solidFill>
              </a:rPr>
              <a:t>2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102" name="Google Shape;102;g3686e688a6f_0_7"/>
          <p:cNvSpPr/>
          <p:nvPr/>
        </p:nvSpPr>
        <p:spPr>
          <a:xfrm>
            <a:off x="4365200" y="1610125"/>
            <a:ext cx="452700" cy="4623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b="1" dirty="0">
                <a:solidFill>
                  <a:schemeClr val="bg1"/>
                </a:solidFill>
              </a:rPr>
              <a:t>3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103" name="Google Shape;103;g3686e688a6f_0_7"/>
          <p:cNvSpPr/>
          <p:nvPr/>
        </p:nvSpPr>
        <p:spPr>
          <a:xfrm>
            <a:off x="6009350" y="1610125"/>
            <a:ext cx="452700" cy="4623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b="1" dirty="0">
                <a:solidFill>
                  <a:schemeClr val="bg1"/>
                </a:solidFill>
              </a:rPr>
              <a:t>4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104" name="Google Shape;104;g3686e688a6f_0_7"/>
          <p:cNvSpPr/>
          <p:nvPr/>
        </p:nvSpPr>
        <p:spPr>
          <a:xfrm>
            <a:off x="7703825" y="1610125"/>
            <a:ext cx="452700" cy="4623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b="1" dirty="0">
                <a:solidFill>
                  <a:schemeClr val="bg1"/>
                </a:solidFill>
              </a:rPr>
              <a:t>5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105" name="Google Shape;105;g3686e688a6f_0_7"/>
          <p:cNvSpPr/>
          <p:nvPr/>
        </p:nvSpPr>
        <p:spPr>
          <a:xfrm>
            <a:off x="189027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686e688a6f_0_7"/>
          <p:cNvSpPr/>
          <p:nvPr/>
        </p:nvSpPr>
        <p:spPr>
          <a:xfrm>
            <a:off x="356667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686e688a6f_0_7"/>
          <p:cNvSpPr/>
          <p:nvPr/>
        </p:nvSpPr>
        <p:spPr>
          <a:xfrm>
            <a:off x="524307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686e688a6f_0_7"/>
          <p:cNvSpPr/>
          <p:nvPr/>
        </p:nvSpPr>
        <p:spPr>
          <a:xfrm>
            <a:off x="693792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686e688a6f_0_7"/>
          <p:cNvSpPr/>
          <p:nvPr/>
        </p:nvSpPr>
        <p:spPr>
          <a:xfrm>
            <a:off x="486575" y="3567025"/>
            <a:ext cx="1503900" cy="13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lvl="0" indent="-1428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Choix des données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lvl="0" indent="-8572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lvl="0" indent="-1428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Nettoyage des données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lvl="0" indent="-8572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lvl="0" indent="-14287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Création du DF final</a:t>
            </a:r>
            <a:endParaRPr sz="1300" dirty="0">
              <a:solidFill>
                <a:srgbClr val="0070C0"/>
              </a:solidFill>
            </a:endParaRPr>
          </a:p>
        </p:txBody>
      </p:sp>
      <p:sp>
        <p:nvSpPr>
          <p:cNvPr id="110" name="Google Shape;110;g3686e688a6f_0_7"/>
          <p:cNvSpPr/>
          <p:nvPr/>
        </p:nvSpPr>
        <p:spPr>
          <a:xfrm>
            <a:off x="2160025" y="3567025"/>
            <a:ext cx="1503900" cy="13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89999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Réduction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lvl="0" indent="-89999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Centrage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lvl="0" indent="-89999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Création d’un autre DF</a:t>
            </a:r>
            <a:endParaRPr sz="1300" dirty="0">
              <a:solidFill>
                <a:srgbClr val="0070C0"/>
              </a:solidFill>
            </a:endParaRPr>
          </a:p>
        </p:txBody>
      </p:sp>
      <p:sp>
        <p:nvSpPr>
          <p:cNvPr id="111" name="Google Shape;111;g3686e688a6f_0_7"/>
          <p:cNvSpPr/>
          <p:nvPr/>
        </p:nvSpPr>
        <p:spPr>
          <a:xfrm>
            <a:off x="3836425" y="3567025"/>
            <a:ext cx="1503900" cy="13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89999" marR="0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ACP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marR="0" lvl="0" indent="-89999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marR="0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Choix composantes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marR="0" lvl="0" indent="-89999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marR="0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Cercles de corrélation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marR="0" lvl="0" indent="-89999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" marR="0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Projection des pays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686e688a6f_0_7"/>
          <p:cNvSpPr/>
          <p:nvPr/>
        </p:nvSpPr>
        <p:spPr>
          <a:xfrm>
            <a:off x="5512825" y="3567025"/>
            <a:ext cx="1503900" cy="13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2 méthodes :</a:t>
            </a: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lvl="0" indent="-15349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10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K-Means</a:t>
            </a: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720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lvl="0" indent="-15349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10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CAH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13" name="Google Shape;113;g3686e688a6f_0_7"/>
          <p:cNvSpPr/>
          <p:nvPr/>
        </p:nvSpPr>
        <p:spPr>
          <a:xfrm>
            <a:off x="7189225" y="3567025"/>
            <a:ext cx="1503900" cy="13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Comparaison des clusters sur les projections K-Means et CAH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-89999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-147149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Recommandation de clusters + pays</a:t>
            </a:r>
            <a:endParaRPr sz="13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0ed1d9b2f_0_23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23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10ed1d9b2f_0_23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fr" sz="25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ré-traitement des</a:t>
            </a:r>
            <a:r>
              <a:rPr lang="fr" sz="25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7"/>
                  </a:ext>
                </a:extLst>
              </a:rPr>
              <a:t> données </a:t>
            </a:r>
            <a:endParaRPr sz="25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10ed1d9b2f_0_23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10ed1d9b2f_0_23"/>
          <p:cNvSpPr txBox="1">
            <a:spLocks noGrp="1"/>
          </p:cNvSpPr>
          <p:nvPr>
            <p:ph type="body" idx="1"/>
          </p:nvPr>
        </p:nvSpPr>
        <p:spPr>
          <a:xfrm>
            <a:off x="701800" y="1432817"/>
            <a:ext cx="79173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12 dataframes 				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Périodes retenues :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	2017 - 2018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9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Traitements réalisés :</a:t>
            </a:r>
            <a:endParaRPr sz="9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Vérification et conversion des </a:t>
            </a: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typologies de variables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Remplacement de valeurs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 sur les zones (noms de pays différents selon les bases)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 </a:t>
            </a: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valeurs manquantes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et suppression des </a:t>
            </a: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lignes NaN</a:t>
            </a:r>
            <a:endParaRPr sz="9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et suppression des </a:t>
            </a: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doublons</a:t>
            </a:r>
            <a:endParaRPr sz="9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</a:t>
            </a: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(valeurs aberrantes)</a:t>
            </a:r>
            <a:endParaRPr sz="9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Colonnes renommées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pour faciliter le modèle de données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Suppression des colonnes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inutiles dans les dataframes bruts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Normalisation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de la population (unités : x 1000)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82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Fusion des tables :</a:t>
            </a:r>
            <a:endParaRPr sz="9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1ere fusion :  	Toutes les données issues de la FAO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2e fusion : 	Toutes les données issues de la Banque Mondiale 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3e fusion : 	Toutes les données issues du </a:t>
            </a:r>
            <a:r>
              <a:rPr lang="fr" sz="900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Centre Etudes Prospectives Informations Internationales 			</a:t>
            </a: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(Distances &amp; Geo)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4e fusion :	Correspondance des codifications ISO3 (FAO) et Banque Mondiale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5e fusion : 	Fusion finale des 3 datasets précédents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82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Base finale :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128 pays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5.63 milliards d'habitants dans notre échantillon (&gt;60% de la pop.  mondiale = 4.62 milliards d'habitants)</a:t>
            </a:r>
            <a:endParaRPr sz="1000" dirty="0">
              <a:solidFill>
                <a:srgbClr val="0070C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10ed1d9b2f_0_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12334ca74_0_1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12334ca74_0_1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 exploratoire des données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612334ca74_0_1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12334ca74_0_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15A0EC7-9E51-E264-38D0-BF39BE26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3" y="1390200"/>
            <a:ext cx="2897676" cy="37533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C2C9A6B-1F7D-C3AF-53E8-2F68667A2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713" y="1390200"/>
            <a:ext cx="3104838" cy="37533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4F80FA9-D414-984F-6246-E67C58EF2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50" y="1390200"/>
            <a:ext cx="3104837" cy="375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12334ca74_0_2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612334ca74_0_25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ACP (Analyse en composantes principales)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Eboulis des valeurs propres et heatmap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612334ca74_0_2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612334ca74_0_25"/>
          <p:cNvSpPr txBox="1">
            <a:spLocks noGrp="1"/>
          </p:cNvSpPr>
          <p:nvPr>
            <p:ph type="body" idx="1"/>
          </p:nvPr>
        </p:nvSpPr>
        <p:spPr>
          <a:xfrm>
            <a:off x="-10025" y="3871300"/>
            <a:ext cx="3429000" cy="1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795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" sz="8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Critère de Kaiser</a:t>
            </a: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: composantes n°6 (inertie 5.1%) et 7 (inertie : 4.5%) non retenues</a:t>
            </a:r>
            <a:endParaRPr sz="8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5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" sz="8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Méthode du coude</a:t>
            </a: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: % d’inertie diminue beaucoup plus lentement dès la 5e barre</a:t>
            </a:r>
            <a:endParaRPr sz="8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5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" sz="8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% cumulé de variance expliquée</a:t>
            </a: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: 80% de la variance est comprise dans les 5 premières composantes</a:t>
            </a:r>
            <a:endParaRPr sz="8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612334ca74_0_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sp>
        <p:nvSpPr>
          <p:cNvPr id="134" name="Google Shape;134;g3612334ca74_0_25"/>
          <p:cNvSpPr txBox="1">
            <a:spLocks noGrp="1"/>
          </p:cNvSpPr>
          <p:nvPr>
            <p:ph type="body" idx="4294967295"/>
          </p:nvPr>
        </p:nvSpPr>
        <p:spPr>
          <a:xfrm>
            <a:off x="3479800" y="3871913"/>
            <a:ext cx="5664200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Principales contributions :</a:t>
            </a:r>
            <a:endParaRPr sz="803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59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à F1 : 	</a:t>
            </a:r>
            <a:r>
              <a:rPr lang="fr-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Accès aux infrastructures et transition démographique (urbanisation, croissance 		</a:t>
            </a:r>
            <a:r>
              <a:rPr lang="fr-FR" sz="803" cap="none" dirty="0" err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population+IPL</a:t>
            </a:r>
            <a:r>
              <a:rPr lang="fr-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(&gt;0)</a:t>
            </a:r>
            <a:endParaRPr lang="fr-FR" sz="803" cap="none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59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-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à F2 : 	</a:t>
            </a:r>
            <a:r>
              <a:rPr lang="fr-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Richesse économique et démographique (PIB + taille population) </a:t>
            </a:r>
            <a:r>
              <a:rPr lang="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(&gt;0)</a:t>
            </a:r>
            <a:endParaRPr lang="fr-FR" sz="803" cap="none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5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-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à F3 : 	</a:t>
            </a:r>
            <a:r>
              <a:rPr lang="fr-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Dépendance alimentaire à la volaille (importations de volaille vs protéines 		animales) </a:t>
            </a:r>
            <a:r>
              <a:rPr lang="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(&gt;0)</a:t>
            </a:r>
            <a:endParaRPr lang="fr-FR" sz="8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5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à F4 : 	</a:t>
            </a:r>
            <a:r>
              <a:rPr lang="fr-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Contraintes liées à la localisation géographique et à l’urbanisation</a:t>
            </a:r>
            <a:r>
              <a:rPr lang="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(&gt;0)</a:t>
            </a:r>
            <a:endParaRPr sz="8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5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"/>
              <a:buFont typeface="Montserrat"/>
              <a:buChar char="●"/>
            </a:pP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à F5 : 	</a:t>
            </a:r>
            <a:r>
              <a:rPr lang="fr-FR" sz="803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Dépendance alimentaire sous contraintes politiques et géographiques </a:t>
            </a:r>
            <a:r>
              <a:rPr lang="fr" sz="8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(&gt;0)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g3612334ca74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25" y="1567625"/>
            <a:ext cx="2908695" cy="22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D62360F-40AB-6B9E-B06C-E031D4C88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975" y="1390200"/>
            <a:ext cx="5602183" cy="248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7AD84DED-8208-848A-44C8-0EB3D0375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12334ca74_0_1">
            <a:extLst>
              <a:ext uri="{FF2B5EF4-FFF2-40B4-BE49-F238E27FC236}">
                <a16:creationId xmlns:a16="http://schemas.microsoft.com/office/drawing/2014/main" id="{0C40E529-A767-AAEF-13B5-82E7378ADAB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12334ca74_0_1">
            <a:extLst>
              <a:ext uri="{FF2B5EF4-FFF2-40B4-BE49-F238E27FC236}">
                <a16:creationId xmlns:a16="http://schemas.microsoft.com/office/drawing/2014/main" id="{8DABF1C8-3935-078D-1D10-74AB9B8BF6FB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ACP (Analyse en composantes principales)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Cercles de corrélation (F1, F2)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612334ca74_0_1">
            <a:extLst>
              <a:ext uri="{FF2B5EF4-FFF2-40B4-BE49-F238E27FC236}">
                <a16:creationId xmlns:a16="http://schemas.microsoft.com/office/drawing/2014/main" id="{E59D1E80-B793-003E-1C58-315DDEA8EA5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12334ca74_0_1">
            <a:extLst>
              <a:ext uri="{FF2B5EF4-FFF2-40B4-BE49-F238E27FC236}">
                <a16:creationId xmlns:a16="http://schemas.microsoft.com/office/drawing/2014/main" id="{94F16F67-2A5D-60D0-E513-D603981A64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pic>
        <p:nvPicPr>
          <p:cNvPr id="143" name="Google Shape;143;g3612334ca74_0_1">
            <a:extLst>
              <a:ext uri="{FF2B5EF4-FFF2-40B4-BE49-F238E27FC236}">
                <a16:creationId xmlns:a16="http://schemas.microsoft.com/office/drawing/2014/main" id="{8D2E0965-FE3D-2229-5BF3-7B5CBE8E4F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75" y="1424600"/>
            <a:ext cx="4085225" cy="37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612334ca74_0_1">
            <a:extLst>
              <a:ext uri="{FF2B5EF4-FFF2-40B4-BE49-F238E27FC236}">
                <a16:creationId xmlns:a16="http://schemas.microsoft.com/office/drawing/2014/main" id="{46E5C3DD-D9EA-944E-CA91-BC18A6EE030E}"/>
              </a:ext>
            </a:extLst>
          </p:cNvPr>
          <p:cNvSpPr txBox="1"/>
          <p:nvPr/>
        </p:nvSpPr>
        <p:spPr>
          <a:xfrm>
            <a:off x="5145150" y="2319500"/>
            <a:ext cx="33273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L'axe F1 représente l'accès à des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infrastructures développées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et la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transition socio démographique rapide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(urbanisation + croissance de la population)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L'axe F2 représente la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richesse économique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démographique</a:t>
            </a:r>
            <a:endParaRPr sz="1003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57494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fec01c7e_0_3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66fec01c7e_0_30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ACP (Analyse en composantes principales)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Cercles de corrélation (F3, F4, F5)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66fec01c7e_0_3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66fec01c7e_0_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pic>
        <p:nvPicPr>
          <p:cNvPr id="153" name="Google Shape;153;g366fec01c7e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225" y="1586511"/>
            <a:ext cx="3833310" cy="322231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66fec01c7e_0_30"/>
          <p:cNvSpPr txBox="1"/>
          <p:nvPr/>
        </p:nvSpPr>
        <p:spPr>
          <a:xfrm>
            <a:off x="7310925" y="1858825"/>
            <a:ext cx="17808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F3 représente le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degré de dépendance alimentaire</a:t>
            </a: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à la volaille comme source principale de protéine animale</a:t>
            </a:r>
            <a:endParaRPr sz="8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F4 traduit comment les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territoires se transforment</a:t>
            </a: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en fonction de leur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localisation</a:t>
            </a: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géographique, leur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degré d’urbanisation</a:t>
            </a: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et leur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vitalité démographique</a:t>
            </a:r>
            <a:endParaRPr sz="85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F5 représente la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dépendance alimentaire</a:t>
            </a: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sous contraintes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politiques</a:t>
            </a: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géographiques</a:t>
            </a:r>
            <a:endParaRPr sz="85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" name="Google Shape;155;g366fec01c7e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884" y="1586500"/>
            <a:ext cx="3621042" cy="317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12334ca74_0_4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612334ca74_0_40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ACP (Analyse en composantes principales)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Projection des pays sur les composantes (2D &amp; 3D)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g3612334ca74_0_4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612334ca74_0_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pic>
        <p:nvPicPr>
          <p:cNvPr id="164" name="Google Shape;164;g3612334ca74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99" y="1685075"/>
            <a:ext cx="4099627" cy="27202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612334ca74_0_40"/>
          <p:cNvSpPr txBox="1"/>
          <p:nvPr/>
        </p:nvSpPr>
        <p:spPr>
          <a:xfrm>
            <a:off x="1367262" y="4440017"/>
            <a:ext cx="186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Projection sur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F1/F2</a:t>
            </a:r>
            <a:endParaRPr sz="85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3612334ca74_0_40"/>
          <p:cNvSpPr txBox="1"/>
          <p:nvPr/>
        </p:nvSpPr>
        <p:spPr>
          <a:xfrm>
            <a:off x="5908036" y="4428982"/>
            <a:ext cx="186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5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Projection sur </a:t>
            </a:r>
            <a:r>
              <a:rPr lang="fr" sz="85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F3,F4,F5</a:t>
            </a:r>
            <a:endParaRPr sz="85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79F744-D084-A0D5-C5AA-579AC816C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573" y="1661399"/>
            <a:ext cx="4099627" cy="27306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12334ca74_0_9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612334ca74_0_9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Clustering : Classification hiérarchique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Nombre de clusters : Dendogramme</a:t>
            </a:r>
            <a:endParaRPr sz="1700" i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612334ca74_0_9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612334ca74_0_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pic>
        <p:nvPicPr>
          <p:cNvPr id="178" name="Google Shape;178;g3612334ca74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437" y="1438525"/>
            <a:ext cx="3995614" cy="361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612334ca74_0_9"/>
          <p:cNvSpPr txBox="1"/>
          <p:nvPr/>
        </p:nvSpPr>
        <p:spPr>
          <a:xfrm>
            <a:off x="5283000" y="2015525"/>
            <a:ext cx="3269100" cy="2499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3 couleurs dominantes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(orange, vert et rouge)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Coupure de l'arbre à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mi-distance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4 clusters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différents (orange, vert et 2 rouges)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Nombre de clusters à retenir : 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4 clusters</a:t>
            </a:r>
            <a:endParaRPr sz="1003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Concrètement, la </a:t>
            </a:r>
            <a:r>
              <a:rPr lang="fr-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coupure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à </a:t>
            </a:r>
            <a:r>
              <a:rPr lang="fr-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mi-distance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permet de visualiser le point où les regroupements cessent d’être pertinents et où les clusters deviennent trop larges et hétérogènes.</a:t>
            </a:r>
            <a:endParaRPr lang="fr"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fec01c7e_0_152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6fec01c7e_0_152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Clustering : Classification hiérarchique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Carte géographique des clusters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g366fec01c7e_0_152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66fec01c7e_0_15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F422BC9-D638-8C72-B893-8AFBCA39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86" y="1623950"/>
            <a:ext cx="5075360" cy="232430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16E1D7A-E5DC-B2FC-07DD-8AC87D8C5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94" y="2409525"/>
            <a:ext cx="762066" cy="8154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4EFA34F-9BF5-23F3-76BB-FB56CF43C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4056" y="4064380"/>
            <a:ext cx="4282811" cy="8992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12334ca74_0_63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12334ca74_0_63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Clustering : Classification hiérarchique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Projection des clusters sur composantes (F1, F2)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g3612334ca74_0_63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612334ca74_0_6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pic>
        <p:nvPicPr>
          <p:cNvPr id="198" name="Google Shape;198;g3612334ca74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50" y="1551325"/>
            <a:ext cx="8167657" cy="3325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12334ca74_0_1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612334ca74_0_17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Clustering : K-Means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Nombre de clusters : Méthode du coude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g3612334ca74_0_1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612334ca74_0_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pic>
        <p:nvPicPr>
          <p:cNvPr id="225" name="Google Shape;225;g3612334ca74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32" y="2121717"/>
            <a:ext cx="4871575" cy="27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612334ca74_0_17"/>
          <p:cNvSpPr txBox="1"/>
          <p:nvPr/>
        </p:nvSpPr>
        <p:spPr>
          <a:xfrm>
            <a:off x="-140931" y="1556600"/>
            <a:ext cx="6612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La plus forte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cassure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se situe à partir de 3 clusters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On part sur un nombre total de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4 clusters 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pour la suite de l'analyse</a:t>
            </a:r>
            <a:endParaRPr sz="1100" dirty="0">
              <a:solidFill>
                <a:srgbClr val="0070C0"/>
              </a:solidFill>
            </a:endParaRPr>
          </a:p>
        </p:txBody>
      </p:sp>
      <p:sp>
        <p:nvSpPr>
          <p:cNvPr id="2" name="Google Shape;226;g3612334ca74_0_17">
            <a:extLst>
              <a:ext uri="{FF2B5EF4-FFF2-40B4-BE49-F238E27FC236}">
                <a16:creationId xmlns:a16="http://schemas.microsoft.com/office/drawing/2014/main" id="{33133BC3-A4EB-7879-E45B-6DBC4B870D6B}"/>
              </a:ext>
            </a:extLst>
          </p:cNvPr>
          <p:cNvSpPr txBox="1"/>
          <p:nvPr/>
        </p:nvSpPr>
        <p:spPr>
          <a:xfrm>
            <a:off x="5858769" y="2626863"/>
            <a:ext cx="2888039" cy="17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fr-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courbe du coude 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indiquait une cassure à </a:t>
            </a:r>
            <a:r>
              <a:rPr lang="fr-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3 clusters 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pour </a:t>
            </a:r>
            <a:r>
              <a:rPr lang="fr-FR" sz="1003" b="1" dirty="0" err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KMeans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, mais j’ai retenu </a:t>
            </a:r>
            <a:r>
              <a:rPr lang="fr-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afin d’être cohérent avec la </a:t>
            </a:r>
            <a:r>
              <a:rPr lang="fr-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CAH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et surtout pour garder une meilleure lisibilité métier.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À </a:t>
            </a:r>
            <a:r>
              <a:rPr lang="fr-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4 clusters</a:t>
            </a: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, on distingue un groupe spécifique comme les USA et l’Inde, qui aurait été noyé dans un autre à 3.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Ce choix est donc plus pertinent pour l’interprétation stratégique.</a:t>
            </a:r>
            <a:endParaRPr sz="11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6fec01c7e_0_11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66fec01c7e_0_116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Clustering : K-Means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Carte géographique des clusters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g366fec01c7e_0_11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66fec01c7e_0_1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0FA1FF2-6C39-785A-30A5-33B802A9C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5" y="1489261"/>
            <a:ext cx="5392020" cy="256597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25D2041-D0AE-D0F3-BE67-C8C1826C8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82" y="2173194"/>
            <a:ext cx="861135" cy="8535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D7BB809-399C-58D0-C5F2-98D0A9F29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466" y="4154299"/>
            <a:ext cx="3322608" cy="6477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6fec01c7e_0_13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6fec01c7e_0_134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Clustering : K-Means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Projection des clusters sur composantes (F1, F2)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366fec01c7e_0_13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66fec01c7e_0_1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pic>
        <p:nvPicPr>
          <p:cNvPr id="245" name="Google Shape;245;g366fec01c7e_0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25" y="1542600"/>
            <a:ext cx="8167658" cy="332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12334ca74_0_78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12334ca74_0_78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Analyses post-clustering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Silhouette clustering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g3612334ca74_0_78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12334ca74_0_7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273" name="Google Shape;273;g3612334ca74_0_78"/>
          <p:cNvSpPr txBox="1"/>
          <p:nvPr/>
        </p:nvSpPr>
        <p:spPr>
          <a:xfrm>
            <a:off x="1785302" y="4340067"/>
            <a:ext cx="5843201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Choix final </a:t>
            </a: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: j’ai retenu la CAH car elle permet d’identifier clairement les pays prioritaires, secondaires ou atypiques, et donc d’orienter efficacement une stratégie commerciale de vente de poulet à l’international.</a:t>
            </a: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129C27-DB79-A989-1982-16668BFBC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50" y="1456811"/>
            <a:ext cx="7531108" cy="28166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1DCA41D1-0F4B-C05D-CDA5-F4C2FD0B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12334ca74_0_78">
            <a:extLst>
              <a:ext uri="{FF2B5EF4-FFF2-40B4-BE49-F238E27FC236}">
                <a16:creationId xmlns:a16="http://schemas.microsoft.com/office/drawing/2014/main" id="{C8DE6807-9A08-6231-8D9C-446CC13BB115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12334ca74_0_78">
            <a:extLst>
              <a:ext uri="{FF2B5EF4-FFF2-40B4-BE49-F238E27FC236}">
                <a16:creationId xmlns:a16="http://schemas.microsoft.com/office/drawing/2014/main" id="{A8594247-5325-34AB-5CBA-FF2A74318105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Analyses post-clustering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Heatmap des clusters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g3612334ca74_0_78">
            <a:extLst>
              <a:ext uri="{FF2B5EF4-FFF2-40B4-BE49-F238E27FC236}">
                <a16:creationId xmlns:a16="http://schemas.microsoft.com/office/drawing/2014/main" id="{9ACA9364-BF9B-8C36-7110-181D5530FB6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12334ca74_0_78">
            <a:extLst>
              <a:ext uri="{FF2B5EF4-FFF2-40B4-BE49-F238E27FC236}">
                <a16:creationId xmlns:a16="http://schemas.microsoft.com/office/drawing/2014/main" id="{B4499596-0F46-AAB4-3261-27A622B6A3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273" name="Google Shape;273;g3612334ca74_0_78">
            <a:extLst>
              <a:ext uri="{FF2B5EF4-FFF2-40B4-BE49-F238E27FC236}">
                <a16:creationId xmlns:a16="http://schemas.microsoft.com/office/drawing/2014/main" id="{61C0984A-8896-1707-3A5D-BE04A16B2D79}"/>
              </a:ext>
            </a:extLst>
          </p:cNvPr>
          <p:cNvSpPr txBox="1"/>
          <p:nvPr/>
        </p:nvSpPr>
        <p:spPr>
          <a:xfrm>
            <a:off x="1852417" y="4340067"/>
            <a:ext cx="5439164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: Le cluster a est le plus attractif pour une stratégie d’exportation. Les autres clusters représentent des marchés secondaires ou émergents à considérer avec prudence.</a:t>
            </a: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F348B43-D57C-9B82-093B-52B2FFB1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74" y="1723021"/>
            <a:ext cx="8761451" cy="254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16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C9FA2AC-0D0D-2764-B12B-905E2E9D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12334ca74_0_78">
            <a:extLst>
              <a:ext uri="{FF2B5EF4-FFF2-40B4-BE49-F238E27FC236}">
                <a16:creationId xmlns:a16="http://schemas.microsoft.com/office/drawing/2014/main" id="{BF665434-F721-08F2-CACF-C6CE3128F7E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12334ca74_0_78">
            <a:extLst>
              <a:ext uri="{FF2B5EF4-FFF2-40B4-BE49-F238E27FC236}">
                <a16:creationId xmlns:a16="http://schemas.microsoft.com/office/drawing/2014/main" id="{EF14C85B-1FEC-7AB6-ED4C-86EC8E72BEA5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Analyses post-clustering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Radar Chart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g3612334ca74_0_78">
            <a:extLst>
              <a:ext uri="{FF2B5EF4-FFF2-40B4-BE49-F238E27FC236}">
                <a16:creationId xmlns:a16="http://schemas.microsoft.com/office/drawing/2014/main" id="{D36FECEC-12BB-2753-5647-88789950EDC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12334ca74_0_78">
            <a:extLst>
              <a:ext uri="{FF2B5EF4-FFF2-40B4-BE49-F238E27FC236}">
                <a16:creationId xmlns:a16="http://schemas.microsoft.com/office/drawing/2014/main" id="{5CC54C97-2555-8986-7D4F-1A2F0EAB4A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273" name="Google Shape;273;g3612334ca74_0_78">
            <a:extLst>
              <a:ext uri="{FF2B5EF4-FFF2-40B4-BE49-F238E27FC236}">
                <a16:creationId xmlns:a16="http://schemas.microsoft.com/office/drawing/2014/main" id="{37DA8D06-7F49-A4DB-D9BA-8410C96A597C}"/>
              </a:ext>
            </a:extLst>
          </p:cNvPr>
          <p:cNvSpPr txBox="1"/>
          <p:nvPr/>
        </p:nvSpPr>
        <p:spPr>
          <a:xfrm>
            <a:off x="5729270" y="2544937"/>
            <a:ext cx="3017538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: Le cluster A (bleu) car c’est celui qui combine : un niveau d’importations de volaille très élevé, une proximité géographique favorable, et une stabilité suffisante pour envisager des relations commerciales durables.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En comparaison, les autres clusters sont soit trop éloignés, soit trop concurrentiels, soit moins intéressants en termes d’importations.</a:t>
            </a: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831D64C-1A01-22E1-FEB7-1EDF7A92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3" y="1516004"/>
            <a:ext cx="5092461" cy="362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58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BDC2B8C8-C92E-44BB-2556-EF82C710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12334ca74_0_78">
            <a:extLst>
              <a:ext uri="{FF2B5EF4-FFF2-40B4-BE49-F238E27FC236}">
                <a16:creationId xmlns:a16="http://schemas.microsoft.com/office/drawing/2014/main" id="{5EB7BF71-F984-15E8-6C83-EC778BC7AFB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12334ca74_0_78">
            <a:extLst>
              <a:ext uri="{FF2B5EF4-FFF2-40B4-BE49-F238E27FC236}">
                <a16:creationId xmlns:a16="http://schemas.microsoft.com/office/drawing/2014/main" id="{6013896A-54BC-EA50-A35A-67F6BAB0B25B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Analyses post-clustering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Bar Plot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g3612334ca74_0_78">
            <a:extLst>
              <a:ext uri="{FF2B5EF4-FFF2-40B4-BE49-F238E27FC236}">
                <a16:creationId xmlns:a16="http://schemas.microsoft.com/office/drawing/2014/main" id="{EF35E37A-D956-71CD-27E3-A62ACE685285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12334ca74_0_78">
            <a:extLst>
              <a:ext uri="{FF2B5EF4-FFF2-40B4-BE49-F238E27FC236}">
                <a16:creationId xmlns:a16="http://schemas.microsoft.com/office/drawing/2014/main" id="{5CFBFDBD-CA5D-EE45-72C9-2002302A5E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273" name="Google Shape;273;g3612334ca74_0_78">
            <a:extLst>
              <a:ext uri="{FF2B5EF4-FFF2-40B4-BE49-F238E27FC236}">
                <a16:creationId xmlns:a16="http://schemas.microsoft.com/office/drawing/2014/main" id="{4A0A7E7B-D7E5-62B0-16E4-1E644520E3E9}"/>
              </a:ext>
            </a:extLst>
          </p:cNvPr>
          <p:cNvSpPr txBox="1"/>
          <p:nvPr/>
        </p:nvSpPr>
        <p:spPr>
          <a:xfrm>
            <a:off x="5729270" y="2544937"/>
            <a:ext cx="3017538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: Le cluster A (bleu) est le plus pertinent car il cumule : des importations de volaille très élevées, une distance plus faible facilitant la logistique, une stabilité politique correcte.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Même si le PIB ou la population ne sont pas au maximum, ce cluster représente le meilleur compromis entre potentiel commercial et accessibilité.</a:t>
            </a: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0D2C797-9391-0D5A-4031-429D05FF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62" y="1623950"/>
            <a:ext cx="4989888" cy="343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3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180C2775-E68D-6823-D44C-5F9351A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12334ca74_0_78">
            <a:extLst>
              <a:ext uri="{FF2B5EF4-FFF2-40B4-BE49-F238E27FC236}">
                <a16:creationId xmlns:a16="http://schemas.microsoft.com/office/drawing/2014/main" id="{50D04CB6-D4BA-72CA-830C-D6BD61CA3FE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12334ca74_0_78">
            <a:extLst>
              <a:ext uri="{FF2B5EF4-FFF2-40B4-BE49-F238E27FC236}">
                <a16:creationId xmlns:a16="http://schemas.microsoft.com/office/drawing/2014/main" id="{C4080351-E8A1-94A3-7DCA-DA59281FB588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Analyses post-clustering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Violin Plot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g3612334ca74_0_78">
            <a:extLst>
              <a:ext uri="{FF2B5EF4-FFF2-40B4-BE49-F238E27FC236}">
                <a16:creationId xmlns:a16="http://schemas.microsoft.com/office/drawing/2014/main" id="{F996E9C2-8E18-CF26-D96F-D6B312ABA9BA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12334ca74_0_78">
            <a:extLst>
              <a:ext uri="{FF2B5EF4-FFF2-40B4-BE49-F238E27FC236}">
                <a16:creationId xmlns:a16="http://schemas.microsoft.com/office/drawing/2014/main" id="{EE077F64-52C6-EB87-A20F-BB6C0A5372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273" name="Google Shape;273;g3612334ca74_0_78">
            <a:extLst>
              <a:ext uri="{FF2B5EF4-FFF2-40B4-BE49-F238E27FC236}">
                <a16:creationId xmlns:a16="http://schemas.microsoft.com/office/drawing/2014/main" id="{D54CFEFE-C486-D0CE-5FCC-60D17315BC9E}"/>
              </a:ext>
            </a:extLst>
          </p:cNvPr>
          <p:cNvSpPr txBox="1"/>
          <p:nvPr/>
        </p:nvSpPr>
        <p:spPr>
          <a:xfrm>
            <a:off x="5729270" y="2607540"/>
            <a:ext cx="3017538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: Le </a:t>
            </a:r>
            <a:r>
              <a:rPr lang="fr-FR" sz="1000" dirty="0" err="1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violin</a:t>
            </a: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plot confirme que le cluster A concentre les pays les plus attractifs : forte demande en volaille, proximité et bonne stabilité.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>
                <a:solidFill>
                  <a:srgbClr val="0070C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Les autres clusters présentent des profils utiles pour la veille, mais moins immédiats pour le développement commercial.</a:t>
            </a:r>
            <a:endParaRPr sz="10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A2BA57-ED84-4811-54B3-DE3640D0C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" y="1498904"/>
            <a:ext cx="4807854" cy="34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50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6fec01c7e_0_8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66fec01c7e_0_87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Analyses post-clustering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Boxplots des variables par cluster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g366fec01c7e_0_8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66fec01c7e_0_8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pic>
        <p:nvPicPr>
          <p:cNvPr id="282" name="Google Shape;282;g366fec01c7e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2600"/>
            <a:ext cx="2237018" cy="344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66fec01c7e_0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9893" y="1542600"/>
            <a:ext cx="2295232" cy="344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66fec01c7e_0_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8299" y="1542600"/>
            <a:ext cx="2220582" cy="34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66fec01c7e_0_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8875" y="1542600"/>
            <a:ext cx="2119950" cy="34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6fec01c7e_0_100"/>
          <p:cNvSpPr/>
          <p:nvPr/>
        </p:nvSpPr>
        <p:spPr>
          <a:xfrm>
            <a:off x="0" y="-58189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66fec01c7e_0_100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Analyses post-clustering (CAH)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Boxplots des variables par cluster</a:t>
            </a:r>
            <a:endParaRPr sz="2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g366fec01c7e_0_10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66fec01c7e_0_10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  <p:pic>
        <p:nvPicPr>
          <p:cNvPr id="294" name="Google Shape;294;g366fec01c7e_0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2600"/>
            <a:ext cx="2330068" cy="344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66fec01c7e_0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2468" y="1542600"/>
            <a:ext cx="2158817" cy="34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66fec01c7e_0_100"/>
          <p:cNvSpPr txBox="1"/>
          <p:nvPr/>
        </p:nvSpPr>
        <p:spPr>
          <a:xfrm>
            <a:off x="4843800" y="1912648"/>
            <a:ext cx="4147800" cy="270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« Analyse des clusters »</a:t>
            </a:r>
            <a:endParaRPr sz="1100" b="1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algn="l" rtl="0">
              <a:spcBef>
                <a:spcPts val="0"/>
              </a:spcBef>
              <a:spcAft>
                <a:spcPts val="0"/>
              </a:spcAft>
              <a:buSzPts val="900"/>
            </a:pP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lang="fr-FR" sz="900" b="1" dirty="0" err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boxplots</a:t>
            </a: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confirment que : </a:t>
            </a:r>
          </a:p>
          <a:p>
            <a:pPr marL="171450" lvl="0" algn="l" rtl="0">
              <a:spcBef>
                <a:spcPts val="0"/>
              </a:spcBef>
              <a:spcAft>
                <a:spcPts val="0"/>
              </a:spcAft>
              <a:buSzPts val="900"/>
            </a:pPr>
            <a:endParaRPr lang="fr-FR"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spcBef>
                <a:spcPts val="0"/>
              </a:spcBef>
              <a:spcAft>
                <a:spcPts val="0"/>
              </a:spcAft>
              <a:buSzPts val="900"/>
              <a:buFont typeface="Wingdings" panose="05000000000000000000" pitchFamily="2" charset="2"/>
              <a:buChar char="v"/>
            </a:pP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-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se distingue par ses importations massives de volaille et une proximité géographique favorable.</a:t>
            </a:r>
          </a:p>
          <a:p>
            <a:pPr marL="171450" lvl="0" algn="l" rtl="0">
              <a:spcBef>
                <a:spcPts val="0"/>
              </a:spcBef>
              <a:spcAft>
                <a:spcPts val="0"/>
              </a:spcAft>
              <a:buSzPts val="900"/>
            </a:pPr>
            <a:endParaRPr lang="fr-FR"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spcBef>
                <a:spcPts val="0"/>
              </a:spcBef>
              <a:spcAft>
                <a:spcPts val="0"/>
              </a:spcAft>
              <a:buSzPts val="900"/>
              <a:buFont typeface="Wingdings" panose="05000000000000000000" pitchFamily="2" charset="2"/>
              <a:buChar char="v"/>
            </a:pP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-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B</a:t>
            </a: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a un profil intéressant mais sur des volumes moindres.</a:t>
            </a:r>
          </a:p>
          <a:p>
            <a:pPr marL="171450" lvl="0" algn="l" rtl="0">
              <a:spcBef>
                <a:spcPts val="0"/>
              </a:spcBef>
              <a:spcAft>
                <a:spcPts val="0"/>
              </a:spcAft>
              <a:buSzPts val="900"/>
            </a:pPr>
            <a:endParaRPr lang="fr-FR"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spcBef>
                <a:spcPts val="0"/>
              </a:spcBef>
              <a:spcAft>
                <a:spcPts val="0"/>
              </a:spcAft>
              <a:buSzPts val="900"/>
              <a:buFont typeface="Wingdings" panose="05000000000000000000" pitchFamily="2" charset="2"/>
              <a:buChar char="v"/>
            </a:pP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-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C</a:t>
            </a: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regroupe de très grands marchés (USA, Inde) mais déjà saturés.</a:t>
            </a:r>
          </a:p>
          <a:p>
            <a:pPr marL="171450" lvl="0" algn="l" rtl="0">
              <a:spcBef>
                <a:spcPts val="0"/>
              </a:spcBef>
              <a:spcAft>
                <a:spcPts val="0"/>
              </a:spcAft>
              <a:buSzPts val="900"/>
            </a:pPr>
            <a:endParaRPr lang="fr-FR"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spcBef>
                <a:spcPts val="0"/>
              </a:spcBef>
              <a:spcAft>
                <a:spcPts val="0"/>
              </a:spcAft>
              <a:buSzPts val="900"/>
              <a:buFont typeface="Wingdings" panose="05000000000000000000" pitchFamily="2" charset="2"/>
              <a:buChar char="v"/>
            </a:pP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-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D</a:t>
            </a: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est plus hétérogène et moins prioritaire.</a:t>
            </a:r>
          </a:p>
          <a:p>
            <a:pPr marL="171450" lvl="0" algn="l" rtl="0">
              <a:spcBef>
                <a:spcPts val="0"/>
              </a:spcBef>
              <a:spcAft>
                <a:spcPts val="0"/>
              </a:spcAft>
              <a:buSzPts val="900"/>
            </a:pPr>
            <a:endParaRPr lang="fr-FR"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algn="l" rtl="0">
              <a:spcBef>
                <a:spcPts val="0"/>
              </a:spcBef>
              <a:spcAft>
                <a:spcPts val="0"/>
              </a:spcAft>
              <a:buSzPts val="900"/>
            </a:pP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Globalement, le choix du </a:t>
            </a:r>
            <a:r>
              <a:rPr lang="fr-FR" sz="9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-FR" sz="900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est confirmé par cette lecture comparative.</a:t>
            </a:r>
            <a:endParaRPr sz="900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6fec01c7e_0_7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66fec01c7e_0_75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</a:t>
            </a:r>
            <a:endParaRPr sz="22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g366fec01c7e_0_7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66fec01c7e_0_75"/>
          <p:cNvSpPr txBox="1">
            <a:spLocks noGrp="1"/>
          </p:cNvSpPr>
          <p:nvPr>
            <p:ph type="body" idx="1"/>
          </p:nvPr>
        </p:nvSpPr>
        <p:spPr>
          <a:xfrm>
            <a:off x="542000" y="1709750"/>
            <a:ext cx="81087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" sz="11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est le plus intéressant pour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commercialiser des poulets à l'international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privilégié pour 6 des 11 variables initiales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Minimisation des frais et complexités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logistiques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liées aux infrastructures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Réduction des risques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géopolitiques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Satisfaction du besoin avéré d'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importation en viande de volaille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dans les pays concernés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Concentre l'essentiel des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importations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de volailles en valeur 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Ce sont les pays les </a:t>
            </a:r>
            <a:r>
              <a:rPr lang="fr" sz="10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moins densément peuplés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qui ont les besoins les plus forts d'importations de volaille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Liste des </a:t>
            </a:r>
            <a:r>
              <a:rPr lang="fr" sz="11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35 pays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composant le </a:t>
            </a:r>
            <a:r>
              <a:rPr lang="fr" sz="1103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Afrique du Sud, Arabie saoudite, Autriche, Belgique, Bélarus, Bulgarie, Canada, Chine - RAS de Hong Kong, Chypre, Croatie, Danemark, Espagne, Estonie, Émirats arabes unis, Finlande, France, Allemagne, Grèce, Hongrie, Irlande, Italie, Japon, Lettonie, Lituanie, Mexique, Norvège, Pays-Bas, Pologne, Portugal, République slovaque, République tchèque, Royaume-Uni, Slovénie, Suède, Suisse</a:t>
            </a:r>
            <a:endParaRPr sz="1003" dirty="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g366fec01c7e_0_7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13f9e8f1567_0_0"/>
          <p:cNvSpPr txBox="1">
            <a:spLocks noGrp="1"/>
          </p:cNvSpPr>
          <p:nvPr>
            <p:ph type="body" idx="1"/>
          </p:nvPr>
        </p:nvSpPr>
        <p:spPr>
          <a:xfrm>
            <a:off x="870656" y="1481620"/>
            <a:ext cx="7402688" cy="99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000"/>
              <a:buFont typeface="Montserrat"/>
              <a:buChar char="●"/>
            </a:pPr>
            <a:r>
              <a:rPr lang="fr" sz="1200" b="1" cap="none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Stratégie en plusieurs étapes :</a:t>
            </a:r>
            <a:endParaRPr sz="1000" b="1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-FR" sz="1000" b="1" cap="none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Étape 1 </a:t>
            </a:r>
            <a:r>
              <a:rPr lang="fr-FR" sz="1000" cap="none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 consolider la présence en Europe, en priorité sur le Top 10 (ci-dessous).</a:t>
            </a: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-FR" sz="1000" b="1" cap="none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Étape 2 </a:t>
            </a:r>
            <a:r>
              <a:rPr lang="fr-FR" sz="1000" cap="none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 élargir ensuite aux pays du golfe (EAU, </a:t>
            </a:r>
            <a:r>
              <a:rPr lang="fr-FR" sz="1000" cap="none" dirty="0" err="1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arabie</a:t>
            </a:r>
            <a:r>
              <a:rPr lang="fr-FR" sz="1000" cap="none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saoudite) qui ont une forte dépendance aux importations.</a:t>
            </a: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-FR" sz="1000" b="1" cap="none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Étape 3 </a:t>
            </a:r>
            <a:r>
              <a:rPr lang="fr-FR" sz="1000" cap="none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 cibler à plus long terme des marchés solvables hors Europe, comme le Japon ou le Canada.</a:t>
            </a:r>
          </a:p>
        </p:txBody>
      </p:sp>
      <p:sp>
        <p:nvSpPr>
          <p:cNvPr id="313" name="Google Shape;313;g13f9e8f1567_0_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  <p:sp>
        <p:nvSpPr>
          <p:cNvPr id="315" name="Google Shape;315;g13f9e8f1567_0_0"/>
          <p:cNvSpPr txBox="1">
            <a:spLocks noGrp="1"/>
          </p:cNvSpPr>
          <p:nvPr>
            <p:ph type="body" idx="4294967295"/>
          </p:nvPr>
        </p:nvSpPr>
        <p:spPr>
          <a:xfrm>
            <a:off x="662076" y="2615342"/>
            <a:ext cx="3748087" cy="204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Montserrat"/>
              <a:buChar char="●"/>
            </a:pPr>
            <a:r>
              <a:rPr lang="fr" sz="1200" b="1" dirty="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TOP 10 des pays au sein du cluster “a” :</a:t>
            </a:r>
            <a:endParaRPr sz="1200" b="1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Allemagne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Royaume-Uni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Pays-Bas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France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Belgique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Espagne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Danemark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République tchèque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Autriche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fr" sz="1000" dirty="0">
                <a:solidFill>
                  <a:srgbClr val="0070C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Bulgarie</a:t>
            </a:r>
            <a:endParaRPr sz="1000" dirty="0">
              <a:solidFill>
                <a:srgbClr val="0070C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6" name="Google Shape;316;g13f9e8f156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488" y="2571750"/>
            <a:ext cx="4287320" cy="1836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Ronds dans l’eau</Template>
  <TotalTime>4396</TotalTime>
  <Words>2794</Words>
  <Application>Microsoft Office PowerPoint</Application>
  <PresentationFormat>Affichage à l'écran (16:9)</PresentationFormat>
  <Paragraphs>300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Montserrat</vt:lpstr>
      <vt:lpstr>Tw Cen MT</vt:lpstr>
      <vt:lpstr>Courier New</vt:lpstr>
      <vt:lpstr>Arial</vt:lpstr>
      <vt:lpstr>Wingdings</vt:lpstr>
      <vt:lpstr>Ronds dans l’eau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DUFOUR</cp:lastModifiedBy>
  <cp:revision>3</cp:revision>
  <dcterms:modified xsi:type="dcterms:W3CDTF">2025-09-04T10:46:12Z</dcterms:modified>
</cp:coreProperties>
</file>